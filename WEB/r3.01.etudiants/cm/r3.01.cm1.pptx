
<file path=[Content_Types].xml><?xml version="1.0" encoding="utf-8"?>
<Types xmlns="http://schemas.openxmlformats.org/package/2006/content-types">
  <Default Extension="jpeg" ContentType="image/jpeg"/>
  <Default Extension="jpg" ContentType="image/jpeg"/>
  <Default Extension="org&amp;utm_campaign=parser&amp;utm_content=thumbnail_unscaled"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7" r:id="rId2"/>
    <p:sldId id="258" r:id="rId3"/>
    <p:sldId id="259" r:id="rId4"/>
    <p:sldId id="260" r:id="rId5"/>
    <p:sldId id="261" r:id="rId6"/>
    <p:sldId id="277" r:id="rId7"/>
    <p:sldId id="278" r:id="rId8"/>
    <p:sldId id="279" r:id="rId9"/>
    <p:sldId id="280" r:id="rId10"/>
    <p:sldId id="262" r:id="rId11"/>
    <p:sldId id="276" r:id="rId12"/>
    <p:sldId id="264" r:id="rId13"/>
    <p:sldId id="265" r:id="rId14"/>
    <p:sldId id="268" r:id="rId15"/>
    <p:sldId id="266" r:id="rId16"/>
    <p:sldId id="267" r:id="rId17"/>
    <p:sldId id="270" r:id="rId18"/>
    <p:sldId id="269" r:id="rId19"/>
    <p:sldId id="271" r:id="rId20"/>
    <p:sldId id="281" r:id="rId21"/>
    <p:sldId id="283" r:id="rId22"/>
    <p:sldId id="284" r:id="rId23"/>
    <p:sldId id="285" r:id="rId24"/>
    <p:sldId id="286" r:id="rId25"/>
    <p:sldId id="288" r:id="rId26"/>
    <p:sldId id="287" r:id="rId27"/>
    <p:sldId id="289" r:id="rId28"/>
    <p:sldId id="290" r:id="rId29"/>
    <p:sldId id="282" r:id="rId3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50"/>
  </p:normalViewPr>
  <p:slideViewPr>
    <p:cSldViewPr snapToGrid="0">
      <p:cViewPr varScale="1">
        <p:scale>
          <a:sx n="132" d="100"/>
          <a:sy n="132" d="100"/>
        </p:scale>
        <p:origin x="16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ACAB3-C0FE-964C-B4D5-E11E1F4E267A}" type="datetimeFigureOut">
              <a:rPr lang="fr-FR" smtClean="0"/>
              <a:t>01/10/2026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886529-55D5-4049-9F36-6F10CF81B71F}" type="slidenum">
              <a:rPr lang="fr-FR" smtClean="0"/>
              <a:t>‹N°›</a:t>
            </a:fld>
            <a:endParaRPr lang="fr-FR"/>
          </a:p>
        </p:txBody>
      </p:sp>
    </p:spTree>
    <p:extLst>
      <p:ext uri="{BB962C8B-B14F-4D97-AF65-F5344CB8AC3E}">
        <p14:creationId xmlns:p14="http://schemas.microsoft.com/office/powerpoint/2010/main" val="40290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6886529-55D5-4049-9F36-6F10CF81B71F}" type="slidenum">
              <a:rPr lang="fr-FR" smtClean="0"/>
              <a:t>23</a:t>
            </a:fld>
            <a:endParaRPr lang="fr-FR"/>
          </a:p>
        </p:txBody>
      </p:sp>
    </p:spTree>
    <p:extLst>
      <p:ext uri="{BB962C8B-B14F-4D97-AF65-F5344CB8AC3E}">
        <p14:creationId xmlns:p14="http://schemas.microsoft.com/office/powerpoint/2010/main" val="3281638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32C5-BCB5-175E-334C-831404D724E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D989260-70D9-016D-64F0-17B83F129F9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414986F-4763-3256-28D5-3045383B33C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538EED1-E533-F5CB-8301-447E0AD4B5F0}"/>
              </a:ext>
            </a:extLst>
          </p:cNvPr>
          <p:cNvSpPr>
            <a:spLocks noGrp="1"/>
          </p:cNvSpPr>
          <p:nvPr>
            <p:ph type="sldNum" sz="quarter" idx="5"/>
          </p:nvPr>
        </p:nvSpPr>
        <p:spPr/>
        <p:txBody>
          <a:bodyPr/>
          <a:lstStyle/>
          <a:p>
            <a:fld id="{66886529-55D5-4049-9F36-6F10CF81B71F}" type="slidenum">
              <a:rPr lang="fr-FR" smtClean="0"/>
              <a:t>24</a:t>
            </a:fld>
            <a:endParaRPr lang="fr-FR"/>
          </a:p>
        </p:txBody>
      </p:sp>
    </p:spTree>
    <p:extLst>
      <p:ext uri="{BB962C8B-B14F-4D97-AF65-F5344CB8AC3E}">
        <p14:creationId xmlns:p14="http://schemas.microsoft.com/office/powerpoint/2010/main" val="1604893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1C87-A66B-2CD7-CAAC-6FDD18B3AA6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2AB2F8B-8868-9DE4-EC45-71F4D12A1AD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EF43BAE-31C9-9C55-6A47-0AE31EFFA22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0EB5F4C-7BEA-1F67-6D86-A95E37FD6ABF}"/>
              </a:ext>
            </a:extLst>
          </p:cNvPr>
          <p:cNvSpPr>
            <a:spLocks noGrp="1"/>
          </p:cNvSpPr>
          <p:nvPr>
            <p:ph type="sldNum" sz="quarter" idx="5"/>
          </p:nvPr>
        </p:nvSpPr>
        <p:spPr/>
        <p:txBody>
          <a:bodyPr/>
          <a:lstStyle/>
          <a:p>
            <a:fld id="{66886529-55D5-4049-9F36-6F10CF81B71F}" type="slidenum">
              <a:rPr lang="fr-FR" smtClean="0"/>
              <a:t>25</a:t>
            </a:fld>
            <a:endParaRPr lang="fr-FR"/>
          </a:p>
        </p:txBody>
      </p:sp>
    </p:spTree>
    <p:extLst>
      <p:ext uri="{BB962C8B-B14F-4D97-AF65-F5344CB8AC3E}">
        <p14:creationId xmlns:p14="http://schemas.microsoft.com/office/powerpoint/2010/main" val="1402126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8E964-8772-F956-28E4-08BE98DC4E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E5E2F50-0EEB-6851-66DA-54E2678B2BD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0B91781-9393-4F5B-9492-1B07101822A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1FDFF0C-6DCE-4A0A-165E-49CAC26C0C3A}"/>
              </a:ext>
            </a:extLst>
          </p:cNvPr>
          <p:cNvSpPr>
            <a:spLocks noGrp="1"/>
          </p:cNvSpPr>
          <p:nvPr>
            <p:ph type="sldNum" sz="quarter" idx="5"/>
          </p:nvPr>
        </p:nvSpPr>
        <p:spPr/>
        <p:txBody>
          <a:bodyPr/>
          <a:lstStyle/>
          <a:p>
            <a:fld id="{66886529-55D5-4049-9F36-6F10CF81B71F}" type="slidenum">
              <a:rPr lang="fr-FR" smtClean="0"/>
              <a:t>26</a:t>
            </a:fld>
            <a:endParaRPr lang="fr-FR"/>
          </a:p>
        </p:txBody>
      </p:sp>
    </p:spTree>
    <p:extLst>
      <p:ext uri="{BB962C8B-B14F-4D97-AF65-F5344CB8AC3E}">
        <p14:creationId xmlns:p14="http://schemas.microsoft.com/office/powerpoint/2010/main" val="779225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A33731-12A2-1824-FE54-CCDB8CC025B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1BDE853-177F-6289-65AE-F372AA5CE3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4AAAC66-78FD-BC2C-315F-746143511FF9}"/>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5" name="Espace réservé du pied de page 4">
            <a:extLst>
              <a:ext uri="{FF2B5EF4-FFF2-40B4-BE49-F238E27FC236}">
                <a16:creationId xmlns:a16="http://schemas.microsoft.com/office/drawing/2014/main" id="{37550AA7-3BBC-8E70-F3D2-BE7FDD19EB6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13CD8C4-DECF-BD05-3E34-4267F1177C53}"/>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3669358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8363F1-3213-D114-3362-6CB1C0BD693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8D5FC34-40AC-6485-A5A2-6BEF0973553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0A04496-E3C5-483C-1301-A50A6A1ABEF5}"/>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5" name="Espace réservé du pied de page 4">
            <a:extLst>
              <a:ext uri="{FF2B5EF4-FFF2-40B4-BE49-F238E27FC236}">
                <a16:creationId xmlns:a16="http://schemas.microsoft.com/office/drawing/2014/main" id="{DB3D6D67-8CB7-2E97-9DAD-7D68392180A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DE3B742-DBE9-AC13-8CAF-6C5A94CC4189}"/>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3331518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8A4983-EF2E-6F0D-761D-D7923A20535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55384BA-3342-5385-B230-BB943AED29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D23C2C7-8244-DF54-1642-07B184F19BBE}"/>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5" name="Espace réservé du pied de page 4">
            <a:extLst>
              <a:ext uri="{FF2B5EF4-FFF2-40B4-BE49-F238E27FC236}">
                <a16:creationId xmlns:a16="http://schemas.microsoft.com/office/drawing/2014/main" id="{847B5A62-662E-1F9F-E4A1-A8ADB41DD2D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1D36F24-7417-6E02-40C9-99E43A8D4BC4}"/>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1848384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60827A-5AF7-085C-FF9F-B80E3CB39C6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5B1B081-D970-4F23-B49E-4615719DA64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C4AE529-BC3E-FEA9-AC35-A675DC7730F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66D59C7-75AC-2223-8334-017D5DA6E165}"/>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6" name="Espace réservé du pied de page 5">
            <a:extLst>
              <a:ext uri="{FF2B5EF4-FFF2-40B4-BE49-F238E27FC236}">
                <a16:creationId xmlns:a16="http://schemas.microsoft.com/office/drawing/2014/main" id="{4C4883D1-D2D3-F7D9-F74A-D9BCD0F71C8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0FE1593-A64B-3C8B-70EA-916B82EB12D0}"/>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2731789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A81188-931A-12DE-E70B-54F510D3C1B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11612B9-8198-4F06-D652-DA87175539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760AA7F-08D3-0AA5-4665-081466A0C2E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A6F360C-6A25-9EEF-6DD0-1687DEC258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2F8690F-044E-D991-63CB-EF9858C6ECF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E3A46A1-5F8F-7EAA-4B03-1D1E92B0B2EC}"/>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8" name="Espace réservé du pied de page 7">
            <a:extLst>
              <a:ext uri="{FF2B5EF4-FFF2-40B4-BE49-F238E27FC236}">
                <a16:creationId xmlns:a16="http://schemas.microsoft.com/office/drawing/2014/main" id="{3074E39E-D928-D410-8308-33B1522FAE7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54045E31-4C9C-662B-69FA-6AF6387759A6}"/>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3666849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43D4E6-A697-3689-992E-37884955048B}"/>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DF200A1-1C93-5EFC-08D0-626477BEE396}"/>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4" name="Espace réservé du pied de page 3">
            <a:extLst>
              <a:ext uri="{FF2B5EF4-FFF2-40B4-BE49-F238E27FC236}">
                <a16:creationId xmlns:a16="http://schemas.microsoft.com/office/drawing/2014/main" id="{25BE36FD-4981-8B96-000A-BE4E929203C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6E83BF1-77C0-0E3E-6632-0771FE9927D8}"/>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83081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AE9561B-0A22-6BCB-E6C3-9EAC711C9628}"/>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3" name="Espace réservé du pied de page 2">
            <a:extLst>
              <a:ext uri="{FF2B5EF4-FFF2-40B4-BE49-F238E27FC236}">
                <a16:creationId xmlns:a16="http://schemas.microsoft.com/office/drawing/2014/main" id="{EB9C4D88-C137-BFC3-BBF0-4E8C9A475A4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91C8242-EFFD-FDD4-CF8D-3F452FCD45D0}"/>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2204269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7650-FC6D-E0F7-D99D-C023F4F3809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238FC8C-A8C9-8417-AAFC-9A08C07149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0798DF0-9556-4491-A243-A948A4841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26DAF8B-B12D-EFED-358E-78DB637539DF}"/>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6" name="Espace réservé du pied de page 5">
            <a:extLst>
              <a:ext uri="{FF2B5EF4-FFF2-40B4-BE49-F238E27FC236}">
                <a16:creationId xmlns:a16="http://schemas.microsoft.com/office/drawing/2014/main" id="{EA1A4D67-13CC-8C7C-F936-4FE73A76381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6290A7E-8349-25EB-0387-6D21F8BE4B98}"/>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365603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AE394F-D8AE-F75A-28C7-467080903D5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B5079B6-DBEA-0BC8-E556-3DD7B64DD48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EB92FEF-BAA0-B4CB-99E2-DB1D26D6BA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21E2A2C-A41F-B223-D8C5-5192D31AEBCC}"/>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6" name="Espace réservé du pied de page 5">
            <a:extLst>
              <a:ext uri="{FF2B5EF4-FFF2-40B4-BE49-F238E27FC236}">
                <a16:creationId xmlns:a16="http://schemas.microsoft.com/office/drawing/2014/main" id="{02C3DEDC-80D9-C4F4-A4D2-B115368FCA9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A4D90E-9A4C-6771-D79E-7C091FE463B7}"/>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1063765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4354AD-5F30-0319-9458-2A44B64130B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248F170-F940-EC0B-0E7F-22B2C3E23C0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E343A12-A09C-E1F5-E284-8C13A6C1D9C6}"/>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5" name="Espace réservé du pied de page 4">
            <a:extLst>
              <a:ext uri="{FF2B5EF4-FFF2-40B4-BE49-F238E27FC236}">
                <a16:creationId xmlns:a16="http://schemas.microsoft.com/office/drawing/2014/main" id="{AD5ED6D3-2FE7-5752-AA86-D2600EF44F4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9EF2C62-758F-B61E-BDA0-CBD247209330}"/>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318827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D0C8FB8-3B73-6A69-EBB9-4A663DE49A7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2C3CE8D-381D-5EA0-4552-F931D0F8DFA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028E269-010E-B6B5-EB20-793D22B23DE3}"/>
              </a:ext>
            </a:extLst>
          </p:cNvPr>
          <p:cNvSpPr>
            <a:spLocks noGrp="1"/>
          </p:cNvSpPr>
          <p:nvPr>
            <p:ph type="dt" sz="half" idx="10"/>
          </p:nvPr>
        </p:nvSpPr>
        <p:spPr/>
        <p:txBody>
          <a:bodyPr/>
          <a:lstStyle/>
          <a:p>
            <a:fld id="{180E3CA1-19F1-EC44-B4A4-862AD7D4AAD0}" type="datetimeFigureOut">
              <a:rPr lang="fr-FR" smtClean="0"/>
              <a:t>30/09/2026</a:t>
            </a:fld>
            <a:endParaRPr lang="fr-FR"/>
          </a:p>
        </p:txBody>
      </p:sp>
      <p:sp>
        <p:nvSpPr>
          <p:cNvPr id="5" name="Espace réservé du pied de page 4">
            <a:extLst>
              <a:ext uri="{FF2B5EF4-FFF2-40B4-BE49-F238E27FC236}">
                <a16:creationId xmlns:a16="http://schemas.microsoft.com/office/drawing/2014/main" id="{8103D070-675E-4FB0-EFDD-553E11DE278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37B40A6-8C3D-3813-AED3-BD2B4B2448F8}"/>
              </a:ext>
            </a:extLst>
          </p:cNvPr>
          <p:cNvSpPr>
            <a:spLocks noGrp="1"/>
          </p:cNvSpPr>
          <p:nvPr>
            <p:ph type="sldNum" sz="quarter" idx="12"/>
          </p:nvPr>
        </p:nvSpPr>
        <p:spPr/>
        <p:txBody>
          <a:bodyPr/>
          <a:lstStyle/>
          <a:p>
            <a:fld id="{1A904A67-F880-6543-805C-E36A0E51EB8C}" type="slidenum">
              <a:rPr lang="fr-FR" smtClean="0"/>
              <a:t>‹N°›</a:t>
            </a:fld>
            <a:endParaRPr lang="fr-FR"/>
          </a:p>
        </p:txBody>
      </p:sp>
    </p:spTree>
    <p:extLst>
      <p:ext uri="{BB962C8B-B14F-4D97-AF65-F5344CB8AC3E}">
        <p14:creationId xmlns:p14="http://schemas.microsoft.com/office/powerpoint/2010/main" val="2978564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6E20496-1762-724D-4DE3-A14790ADD5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1633DB0-16C7-21A5-3F9C-02E8B6E364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C702A7F-8B6D-4255-F058-020CD90273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0E3CA1-19F1-EC44-B4A4-862AD7D4AAD0}" type="datetimeFigureOut">
              <a:rPr lang="fr-FR" smtClean="0"/>
              <a:t>30/09/2026</a:t>
            </a:fld>
            <a:endParaRPr lang="fr-FR"/>
          </a:p>
        </p:txBody>
      </p:sp>
      <p:sp>
        <p:nvSpPr>
          <p:cNvPr id="5" name="Espace réservé du pied de page 4">
            <a:extLst>
              <a:ext uri="{FF2B5EF4-FFF2-40B4-BE49-F238E27FC236}">
                <a16:creationId xmlns:a16="http://schemas.microsoft.com/office/drawing/2014/main" id="{2A40C9D3-689B-614F-35D2-9A138DC01A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F834FA2-942B-CF7F-834B-D51FF0EC89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904A67-F880-6543-805C-E36A0E51EB8C}" type="slidenum">
              <a:rPr lang="fr-FR" smtClean="0"/>
              <a:t>‹N°›</a:t>
            </a:fld>
            <a:endParaRPr lang="fr-FR"/>
          </a:p>
        </p:txBody>
      </p:sp>
    </p:spTree>
    <p:extLst>
      <p:ext uri="{BB962C8B-B14F-4D97-AF65-F5344CB8AC3E}">
        <p14:creationId xmlns:p14="http://schemas.microsoft.com/office/powerpoint/2010/main" val="645914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www.oracle.com/java/technologies/java-servlet-tec.html" TargetMode="External"/><Relationship Id="rId2" Type="http://schemas.openxmlformats.org/officeDocument/2006/relationships/hyperlink" Target="https://www.oracle.com/fr/java/technologies/java-ee-glance.html" TargetMode="External"/><Relationship Id="rId1" Type="http://schemas.openxmlformats.org/officeDocument/2006/relationships/slideLayout" Target="../slideLayouts/slideLayout2.xml"/><Relationship Id="rId6" Type="http://schemas.openxmlformats.org/officeDocument/2006/relationships/hyperlink" Target="https://spring.io/projects/spring-boot" TargetMode="External"/><Relationship Id="rId5" Type="http://schemas.openxmlformats.org/officeDocument/2006/relationships/hyperlink" Target="https://www.oracle.com/java/technologies/persistence-jsp.html" TargetMode="External"/><Relationship Id="rId4" Type="http://schemas.openxmlformats.org/officeDocument/2006/relationships/hyperlink" Target="https://www.oracle.com/java/technologies/jspt.html"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org&amp;utm_campaign=parser&amp;utm_content=thumbnail_unscaled"/><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6.png"/><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C22D81-2D1F-574C-93A7-337A022C9B9B}"/>
              </a:ext>
            </a:extLst>
          </p:cNvPr>
          <p:cNvSpPr>
            <a:spLocks noGrp="1"/>
          </p:cNvSpPr>
          <p:nvPr>
            <p:ph type="ctrTitle"/>
          </p:nvPr>
        </p:nvSpPr>
        <p:spPr/>
        <p:txBody>
          <a:bodyPr/>
          <a:lstStyle/>
          <a:p>
            <a:r>
              <a:rPr lang="fr-FR" dirty="0"/>
              <a:t>R3.01</a:t>
            </a:r>
          </a:p>
        </p:txBody>
      </p:sp>
      <p:sp>
        <p:nvSpPr>
          <p:cNvPr id="3" name="Sous-titre 2">
            <a:extLst>
              <a:ext uri="{FF2B5EF4-FFF2-40B4-BE49-F238E27FC236}">
                <a16:creationId xmlns:a16="http://schemas.microsoft.com/office/drawing/2014/main" id="{4B35FB84-B057-2B45-8FBC-929CD3FAC25B}"/>
              </a:ext>
            </a:extLst>
          </p:cNvPr>
          <p:cNvSpPr>
            <a:spLocks noGrp="1"/>
          </p:cNvSpPr>
          <p:nvPr>
            <p:ph type="subTitle" idx="1"/>
          </p:nvPr>
        </p:nvSpPr>
        <p:spPr/>
        <p:txBody>
          <a:bodyPr/>
          <a:lstStyle/>
          <a:p>
            <a:r>
              <a:rPr lang="fr-FR" dirty="0"/>
              <a:t>CM 1 : Intro et HTTP</a:t>
            </a:r>
          </a:p>
        </p:txBody>
      </p:sp>
    </p:spTree>
    <p:extLst>
      <p:ext uri="{BB962C8B-B14F-4D97-AF65-F5344CB8AC3E}">
        <p14:creationId xmlns:p14="http://schemas.microsoft.com/office/powerpoint/2010/main" val="3875750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77FBFD-9B1D-B84D-896A-67DDD35156DA}"/>
              </a:ext>
            </a:extLst>
          </p:cNvPr>
          <p:cNvSpPr>
            <a:spLocks noGrp="1"/>
          </p:cNvSpPr>
          <p:nvPr>
            <p:ph type="title"/>
          </p:nvPr>
        </p:nvSpPr>
        <p:spPr/>
        <p:txBody>
          <a:bodyPr/>
          <a:lstStyle/>
          <a:p>
            <a:r>
              <a:rPr lang="fr-FR" dirty="0"/>
              <a:t>Objectifs</a:t>
            </a:r>
          </a:p>
        </p:txBody>
      </p:sp>
      <p:sp>
        <p:nvSpPr>
          <p:cNvPr id="3" name="Espace réservé du contenu 2">
            <a:extLst>
              <a:ext uri="{FF2B5EF4-FFF2-40B4-BE49-F238E27FC236}">
                <a16:creationId xmlns:a16="http://schemas.microsoft.com/office/drawing/2014/main" id="{770DC4AE-EFE5-C749-9CBF-2C510003B22D}"/>
              </a:ext>
            </a:extLst>
          </p:cNvPr>
          <p:cNvSpPr>
            <a:spLocks noGrp="1"/>
          </p:cNvSpPr>
          <p:nvPr>
            <p:ph idx="1"/>
          </p:nvPr>
        </p:nvSpPr>
        <p:spPr/>
        <p:txBody>
          <a:bodyPr/>
          <a:lstStyle/>
          <a:p>
            <a:pPr marL="0" indent="0">
              <a:buNone/>
            </a:pPr>
            <a:r>
              <a:rPr lang="fr-FR" dirty="0"/>
              <a:t>L’objectif de cette ressource est de poursuivre l’apprentissage de la programmation autour de technologies web. Cette ressource met en situation de développement à partir de spécification, ce qui est la suite logique de l’apprentissage du développement. </a:t>
            </a:r>
            <a:endParaRPr lang="fr-FR" dirty="0">
              <a:effectLst/>
            </a:endParaRPr>
          </a:p>
          <a:p>
            <a:pPr marL="0" indent="0">
              <a:buNone/>
            </a:pPr>
            <a:endParaRPr lang="fr-FR" dirty="0"/>
          </a:p>
        </p:txBody>
      </p:sp>
    </p:spTree>
    <p:extLst>
      <p:ext uri="{BB962C8B-B14F-4D97-AF65-F5344CB8AC3E}">
        <p14:creationId xmlns:p14="http://schemas.microsoft.com/office/powerpoint/2010/main" val="2707676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FF8BFE-3BC7-E948-B952-CBF64974F5AB}"/>
              </a:ext>
            </a:extLst>
          </p:cNvPr>
          <p:cNvSpPr>
            <a:spLocks noGrp="1"/>
          </p:cNvSpPr>
          <p:nvPr>
            <p:ph type="title"/>
          </p:nvPr>
        </p:nvSpPr>
        <p:spPr/>
        <p:txBody>
          <a:bodyPr/>
          <a:lstStyle/>
          <a:p>
            <a:r>
              <a:rPr lang="fr-FR" dirty="0"/>
              <a:t>Choix Techniques</a:t>
            </a:r>
          </a:p>
        </p:txBody>
      </p:sp>
      <p:sp>
        <p:nvSpPr>
          <p:cNvPr id="3" name="Espace réservé du contenu 2">
            <a:extLst>
              <a:ext uri="{FF2B5EF4-FFF2-40B4-BE49-F238E27FC236}">
                <a16:creationId xmlns:a16="http://schemas.microsoft.com/office/drawing/2014/main" id="{BC9C2570-DF69-C74D-8C38-98B7975CAD1C}"/>
              </a:ext>
            </a:extLst>
          </p:cNvPr>
          <p:cNvSpPr>
            <a:spLocks noGrp="1"/>
          </p:cNvSpPr>
          <p:nvPr>
            <p:ph idx="1"/>
          </p:nvPr>
        </p:nvSpPr>
        <p:spPr/>
        <p:txBody>
          <a:bodyPr/>
          <a:lstStyle/>
          <a:p>
            <a:r>
              <a:rPr lang="fr-FR" dirty="0"/>
              <a:t>Java Entreprise Edition</a:t>
            </a:r>
          </a:p>
          <a:p>
            <a:endParaRPr lang="fr-FR" dirty="0"/>
          </a:p>
          <a:p>
            <a:r>
              <a:rPr lang="fr-FR" dirty="0"/>
              <a:t>Java Persistant Api</a:t>
            </a:r>
          </a:p>
          <a:p>
            <a:endParaRPr lang="fr-FR" dirty="0"/>
          </a:p>
          <a:p>
            <a:r>
              <a:rPr lang="fr-FR" dirty="0"/>
              <a:t>Spring boot  </a:t>
            </a:r>
          </a:p>
        </p:txBody>
      </p:sp>
    </p:spTree>
    <p:extLst>
      <p:ext uri="{BB962C8B-B14F-4D97-AF65-F5344CB8AC3E}">
        <p14:creationId xmlns:p14="http://schemas.microsoft.com/office/powerpoint/2010/main" val="532186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6ED3A0-7BB4-A040-984F-D42AB716FE04}"/>
              </a:ext>
            </a:extLst>
          </p:cNvPr>
          <p:cNvSpPr>
            <a:spLocks noGrp="1"/>
          </p:cNvSpPr>
          <p:nvPr>
            <p:ph type="title"/>
          </p:nvPr>
        </p:nvSpPr>
        <p:spPr/>
        <p:txBody>
          <a:bodyPr/>
          <a:lstStyle/>
          <a:p>
            <a:r>
              <a:rPr lang="fr-FR" dirty="0"/>
              <a:t>Cours</a:t>
            </a:r>
          </a:p>
        </p:txBody>
      </p:sp>
      <p:sp>
        <p:nvSpPr>
          <p:cNvPr id="3" name="Espace réservé du contenu 2">
            <a:extLst>
              <a:ext uri="{FF2B5EF4-FFF2-40B4-BE49-F238E27FC236}">
                <a16:creationId xmlns:a16="http://schemas.microsoft.com/office/drawing/2014/main" id="{DA2E6727-115A-1E44-9B82-3420F7D22D69}"/>
              </a:ext>
            </a:extLst>
          </p:cNvPr>
          <p:cNvSpPr>
            <a:spLocks noGrp="1"/>
          </p:cNvSpPr>
          <p:nvPr>
            <p:ph sz="half" idx="1"/>
          </p:nvPr>
        </p:nvSpPr>
        <p:spPr>
          <a:xfrm>
            <a:off x="838200" y="1825625"/>
            <a:ext cx="3460531" cy="4351338"/>
          </a:xfrm>
        </p:spPr>
        <p:txBody>
          <a:bodyPr>
            <a:normAutofit/>
          </a:bodyPr>
          <a:lstStyle/>
          <a:p>
            <a:r>
              <a:rPr lang="fr-FR" dirty="0"/>
              <a:t>6 CM</a:t>
            </a:r>
          </a:p>
          <a:p>
            <a:endParaRPr lang="fr-FR" dirty="0"/>
          </a:p>
          <a:p>
            <a:pPr lvl="1"/>
            <a:r>
              <a:rPr lang="fr-FR" dirty="0"/>
              <a:t>Intro</a:t>
            </a:r>
          </a:p>
          <a:p>
            <a:pPr lvl="1"/>
            <a:r>
              <a:rPr lang="fr-FR" dirty="0"/>
              <a:t>Servlet</a:t>
            </a:r>
          </a:p>
          <a:p>
            <a:pPr lvl="1"/>
            <a:r>
              <a:rPr lang="fr-FR" dirty="0"/>
              <a:t>JSP</a:t>
            </a:r>
          </a:p>
          <a:p>
            <a:pPr lvl="1"/>
            <a:endParaRPr lang="fr-FR" dirty="0"/>
          </a:p>
          <a:p>
            <a:pPr lvl="1"/>
            <a:r>
              <a:rPr lang="fr-FR" dirty="0"/>
              <a:t>JPA</a:t>
            </a:r>
          </a:p>
          <a:p>
            <a:pPr lvl="1"/>
            <a:r>
              <a:rPr lang="fr-FR" dirty="0"/>
              <a:t>Spring Boot</a:t>
            </a:r>
          </a:p>
          <a:p>
            <a:pPr lvl="1"/>
            <a:r>
              <a:rPr lang="fr-FR" dirty="0"/>
              <a:t>Ouverture</a:t>
            </a:r>
          </a:p>
          <a:p>
            <a:pPr marL="457200" lvl="1" indent="0">
              <a:buNone/>
            </a:pPr>
            <a:endParaRPr lang="fr-FR" dirty="0"/>
          </a:p>
        </p:txBody>
      </p:sp>
      <p:sp>
        <p:nvSpPr>
          <p:cNvPr id="4" name="Espace réservé du contenu 3">
            <a:extLst>
              <a:ext uri="{FF2B5EF4-FFF2-40B4-BE49-F238E27FC236}">
                <a16:creationId xmlns:a16="http://schemas.microsoft.com/office/drawing/2014/main" id="{20D63DA2-FC11-4043-8B0A-B139AA7F1310}"/>
              </a:ext>
            </a:extLst>
          </p:cNvPr>
          <p:cNvSpPr>
            <a:spLocks noGrp="1"/>
          </p:cNvSpPr>
          <p:nvPr>
            <p:ph sz="half" idx="2"/>
          </p:nvPr>
        </p:nvSpPr>
        <p:spPr>
          <a:xfrm>
            <a:off x="4154213" y="1825625"/>
            <a:ext cx="2824655" cy="4351338"/>
          </a:xfrm>
        </p:spPr>
        <p:txBody>
          <a:bodyPr>
            <a:normAutofit/>
          </a:bodyPr>
          <a:lstStyle/>
          <a:p>
            <a:pPr marL="0" indent="0">
              <a:buNone/>
            </a:pPr>
            <a:r>
              <a:rPr lang="fr-FR" dirty="0"/>
              <a:t>Evaluations</a:t>
            </a:r>
          </a:p>
          <a:p>
            <a:pPr marL="0" indent="0">
              <a:buNone/>
            </a:pPr>
            <a:r>
              <a:rPr lang="fr-FR" dirty="0"/>
              <a:t>S46 : Servlet + JSP + JPA</a:t>
            </a:r>
          </a:p>
          <a:p>
            <a:pPr marL="0" indent="0">
              <a:buNone/>
            </a:pPr>
            <a:r>
              <a:rPr lang="fr-FR" dirty="0"/>
              <a:t>S50 : MVC</a:t>
            </a:r>
          </a:p>
          <a:p>
            <a:pPr marL="0" indent="0">
              <a:buNone/>
            </a:pPr>
            <a:endParaRPr lang="fr-FR" dirty="0"/>
          </a:p>
          <a:p>
            <a:pPr marL="0" indent="0">
              <a:buNone/>
            </a:pPr>
            <a:r>
              <a:rPr lang="fr-FR" dirty="0"/>
              <a:t>S1 SAE : </a:t>
            </a:r>
          </a:p>
          <a:p>
            <a:pPr marL="457200" lvl="1" indent="0">
              <a:buNone/>
            </a:pPr>
            <a:r>
              <a:rPr lang="fr-FR" dirty="0"/>
              <a:t>Oral + écrit </a:t>
            </a:r>
          </a:p>
          <a:p>
            <a:pPr marL="0" indent="0">
              <a:buNone/>
            </a:pPr>
            <a:endParaRPr lang="fr-FR" dirty="0"/>
          </a:p>
        </p:txBody>
      </p:sp>
      <p:graphicFrame>
        <p:nvGraphicFramePr>
          <p:cNvPr id="7" name="Tableau 6">
            <a:extLst>
              <a:ext uri="{FF2B5EF4-FFF2-40B4-BE49-F238E27FC236}">
                <a16:creationId xmlns:a16="http://schemas.microsoft.com/office/drawing/2014/main" id="{E8CAF30D-8D2C-C6E8-AC44-C0D280B2846F}"/>
              </a:ext>
            </a:extLst>
          </p:cNvPr>
          <p:cNvGraphicFramePr>
            <a:graphicFrameLocks noGrp="1"/>
          </p:cNvGraphicFramePr>
          <p:nvPr>
            <p:extLst>
              <p:ext uri="{D42A27DB-BD31-4B8C-83A1-F6EECF244321}">
                <p14:modId xmlns:p14="http://schemas.microsoft.com/office/powerpoint/2010/main" val="3010056974"/>
              </p:ext>
            </p:extLst>
          </p:nvPr>
        </p:nvGraphicFramePr>
        <p:xfrm>
          <a:off x="9806071" y="2238534"/>
          <a:ext cx="1177290" cy="3414100"/>
        </p:xfrm>
        <a:graphic>
          <a:graphicData uri="http://schemas.openxmlformats.org/drawingml/2006/table">
            <a:tbl>
              <a:tblPr>
                <a:tableStyleId>{5C22544A-7EE6-4342-B048-85BDC9FD1C3A}</a:tableStyleId>
              </a:tblPr>
              <a:tblGrid>
                <a:gridCol w="392430">
                  <a:extLst>
                    <a:ext uri="{9D8B030D-6E8A-4147-A177-3AD203B41FA5}">
                      <a16:colId xmlns:a16="http://schemas.microsoft.com/office/drawing/2014/main" val="2673511495"/>
                    </a:ext>
                  </a:extLst>
                </a:gridCol>
                <a:gridCol w="392430">
                  <a:extLst>
                    <a:ext uri="{9D8B030D-6E8A-4147-A177-3AD203B41FA5}">
                      <a16:colId xmlns:a16="http://schemas.microsoft.com/office/drawing/2014/main" val="3683413644"/>
                    </a:ext>
                  </a:extLst>
                </a:gridCol>
                <a:gridCol w="392430">
                  <a:extLst>
                    <a:ext uri="{9D8B030D-6E8A-4147-A177-3AD203B41FA5}">
                      <a16:colId xmlns:a16="http://schemas.microsoft.com/office/drawing/2014/main" val="3945842599"/>
                    </a:ext>
                  </a:extLst>
                </a:gridCol>
              </a:tblGrid>
              <a:tr h="174660">
                <a:tc>
                  <a:txBody>
                    <a:bodyPr/>
                    <a:lstStyle/>
                    <a:p>
                      <a:pPr fontAlgn="b">
                        <a:buNone/>
                      </a:pPr>
                      <a:r>
                        <a:rPr lang="fr-FR" sz="1200">
                          <a:effectLst/>
                        </a:rPr>
                        <a:t>cm</a:t>
                      </a:r>
                      <a:endParaRPr lang="fr-FR" sz="1200">
                        <a:solidFill>
                          <a:srgbClr val="000000"/>
                        </a:solidFill>
                        <a:effectLst/>
                        <a:latin typeface="Calibri" panose="020F0502020204030204" pitchFamily="34" charset="0"/>
                      </a:endParaRPr>
                    </a:p>
                  </a:txBody>
                  <a:tcPr marL="0" marR="0" marT="0" marB="0" anchor="b"/>
                </a:tc>
                <a:tc>
                  <a:txBody>
                    <a:bodyPr/>
                    <a:lstStyle/>
                    <a:p>
                      <a:pPr fontAlgn="b">
                        <a:buNone/>
                      </a:pPr>
                      <a:r>
                        <a:rPr lang="fr-FR" sz="1200">
                          <a:effectLst/>
                        </a:rPr>
                        <a:t>td </a:t>
                      </a:r>
                      <a:endParaRPr lang="fr-FR" sz="1200">
                        <a:solidFill>
                          <a:srgbClr val="000000"/>
                        </a:solidFill>
                        <a:effectLst/>
                        <a:latin typeface="Calibri" panose="020F0502020204030204" pitchFamily="34" charset="0"/>
                      </a:endParaRPr>
                    </a:p>
                  </a:txBody>
                  <a:tcPr marL="0" marR="0" marT="0" marB="0" anchor="b"/>
                </a:tc>
                <a:tc>
                  <a:txBody>
                    <a:bodyPr/>
                    <a:lstStyle/>
                    <a:p>
                      <a:pPr fontAlgn="b">
                        <a:buNone/>
                      </a:pPr>
                      <a:r>
                        <a:rPr lang="fr-FR" sz="1200">
                          <a:effectLst/>
                        </a:rPr>
                        <a:t>tp</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6687750"/>
                  </a:ext>
                </a:extLst>
              </a:tr>
              <a:tr h="174660">
                <a:tc>
                  <a:txBody>
                    <a:bodyPr/>
                    <a:lstStyle/>
                    <a:p>
                      <a:pPr>
                        <a:buNone/>
                      </a:pPr>
                      <a:endParaRPr lang="fr-FR" sz="1200">
                        <a:solidFill>
                          <a:srgbClr val="000000"/>
                        </a:solidFill>
                        <a:effectLst/>
                        <a:latin typeface="Calibri" panose="020F0502020204030204" pitchFamily="34" charset="0"/>
                      </a:endParaRPr>
                    </a:p>
                  </a:txBody>
                  <a:tcPr marL="0" marR="0" marT="0" marB="0" anchor="ctr"/>
                </a:tc>
                <a:tc>
                  <a:txBody>
                    <a:bodyPr/>
                    <a:lstStyle/>
                    <a:p>
                      <a:pPr>
                        <a:buNone/>
                      </a:pPr>
                      <a:endParaRPr lang="fr-FR" sz="1200">
                        <a:solidFill>
                          <a:srgbClr val="000000"/>
                        </a:solidFill>
                        <a:effectLst/>
                        <a:latin typeface="Calibri" panose="020F0502020204030204" pitchFamily="34" charset="0"/>
                      </a:endParaRPr>
                    </a:p>
                  </a:txBody>
                  <a:tcPr marL="0" marR="0" marT="0" marB="0" anchor="ctr"/>
                </a:tc>
                <a:tc>
                  <a:txBody>
                    <a:bodyPr/>
                    <a:lstStyle/>
                    <a:p>
                      <a:pPr>
                        <a:buNone/>
                      </a:pPr>
                      <a:endParaRPr lang="fr-FR" sz="120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504770461"/>
                  </a:ext>
                </a:extLst>
              </a:tr>
              <a:tr h="174660">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dirty="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07465270"/>
                  </a:ext>
                </a:extLst>
              </a:tr>
              <a:tr h="349321">
                <a:tc>
                  <a:txBody>
                    <a:bodyPr/>
                    <a:lstStyle/>
                    <a:p>
                      <a:pPr fontAlgn="b">
                        <a:buNone/>
                      </a:pPr>
                      <a:r>
                        <a:rPr lang="fr-FR" sz="1200">
                          <a:effectLst/>
                        </a:rPr>
                        <a:t>1</a:t>
                      </a:r>
                      <a:endParaRPr lang="fr-FR" sz="1200">
                        <a:solidFill>
                          <a:srgbClr val="000000"/>
                        </a:solidFill>
                        <a:effectLst/>
                        <a:latin typeface="Calibri" panose="020F0502020204030204" pitchFamily="34" charset="0"/>
                      </a:endParaRPr>
                    </a:p>
                  </a:txBody>
                  <a:tcPr marL="0" marR="0" marT="0" marB="0" anchor="b"/>
                </a:tc>
                <a:tc>
                  <a:txBody>
                    <a:bodyPr/>
                    <a:lstStyle/>
                    <a:p>
                      <a:pPr fontAlgn="b">
                        <a:buNone/>
                      </a:pPr>
                      <a:r>
                        <a:rPr lang="fr-FR" sz="1200">
                          <a:effectLst/>
                        </a:rPr>
                        <a:t>Rentrée</a:t>
                      </a:r>
                      <a:endParaRPr lang="fr-FR" sz="1200">
                        <a:solidFill>
                          <a:srgbClr val="000000"/>
                        </a:solidFill>
                        <a:effectLst/>
                        <a:latin typeface="Calibri" panose="020F0502020204030204" pitchFamily="34" charset="0"/>
                      </a:endParaRPr>
                    </a:p>
                  </a:txBody>
                  <a:tcPr marL="0" marR="0" marT="0" marB="0" anchor="b"/>
                </a:tc>
                <a:tc>
                  <a:txBody>
                    <a:bodyPr/>
                    <a:lstStyle/>
                    <a:p>
                      <a:pPr>
                        <a:buNone/>
                      </a:pPr>
                      <a:endParaRPr lang="fr-FR" sz="120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779721916"/>
                  </a:ext>
                </a:extLst>
              </a:tr>
              <a:tr h="145550">
                <a:tc>
                  <a:txBody>
                    <a:bodyPr/>
                    <a:lstStyle/>
                    <a:p>
                      <a:pPr fontAlgn="base">
                        <a:buNone/>
                      </a:pPr>
                      <a:endParaRPr lang="fr-FR" sz="1000">
                        <a:solidFill>
                          <a:srgbClr val="000000"/>
                        </a:solidFill>
                        <a:effectLst/>
                        <a:latin typeface="Arial" panose="020B0604020202020204" pitchFamily="34" charset="0"/>
                      </a:endParaRPr>
                    </a:p>
                  </a:txBody>
                  <a:tcPr marL="0" marR="0" marT="0" marB="0" anchor="b"/>
                </a:tc>
                <a:tc>
                  <a:txBody>
                    <a:bodyPr/>
                    <a:lstStyle/>
                    <a:p>
                      <a:pPr fontAlgn="base">
                        <a:buNone/>
                      </a:pPr>
                      <a:endParaRPr lang="fr-FR" sz="1000">
                        <a:solidFill>
                          <a:srgbClr val="000000"/>
                        </a:solidFill>
                        <a:effectLst/>
                        <a:latin typeface="Arial" panose="020B0604020202020204" pitchFamily="34" charset="0"/>
                      </a:endParaRPr>
                    </a:p>
                  </a:txBody>
                  <a:tcPr marL="0" marR="0" marT="0" marB="0" anchor="b"/>
                </a:tc>
                <a:tc>
                  <a:txBody>
                    <a:bodyPr/>
                    <a:lstStyle/>
                    <a:p>
                      <a:pPr fontAlgn="base">
                        <a:buNone/>
                      </a:pPr>
                      <a:endParaRPr lang="fr-FR" sz="1000">
                        <a:solidFill>
                          <a:srgbClr val="000000"/>
                        </a:solidFill>
                        <a:effectLst/>
                        <a:latin typeface="Arial" panose="020B0604020202020204" pitchFamily="34" charset="0"/>
                      </a:endParaRPr>
                    </a:p>
                  </a:txBody>
                  <a:tcPr marL="0" marR="0" marT="0" marB="0" anchor="b"/>
                </a:tc>
                <a:extLst>
                  <a:ext uri="{0D108BD9-81ED-4DB2-BD59-A6C34878D82A}">
                    <a16:rowId xmlns:a16="http://schemas.microsoft.com/office/drawing/2014/main" val="255595486"/>
                  </a:ext>
                </a:extLst>
              </a:tr>
              <a:tr h="145550">
                <a:tc>
                  <a:txBody>
                    <a:bodyPr/>
                    <a:lstStyle/>
                    <a:p>
                      <a:pPr fontAlgn="base">
                        <a:buNone/>
                      </a:pPr>
                      <a:endParaRPr lang="fr-FR" sz="1000">
                        <a:solidFill>
                          <a:srgbClr val="000000"/>
                        </a:solidFill>
                        <a:effectLst/>
                        <a:latin typeface="Arial" panose="020B0604020202020204" pitchFamily="34" charset="0"/>
                      </a:endParaRPr>
                    </a:p>
                  </a:txBody>
                  <a:tcPr marL="0" marR="0" marT="0" marB="0" anchor="b"/>
                </a:tc>
                <a:tc>
                  <a:txBody>
                    <a:bodyPr/>
                    <a:lstStyle/>
                    <a:p>
                      <a:pPr fontAlgn="base">
                        <a:buNone/>
                      </a:pPr>
                      <a:endParaRPr lang="fr-FR" sz="1000">
                        <a:solidFill>
                          <a:srgbClr val="000000"/>
                        </a:solidFill>
                        <a:effectLst/>
                        <a:latin typeface="Arial" panose="020B0604020202020204" pitchFamily="34" charset="0"/>
                      </a:endParaRPr>
                    </a:p>
                  </a:txBody>
                  <a:tcPr marL="0" marR="0" marT="0" marB="0" anchor="b"/>
                </a:tc>
                <a:tc>
                  <a:txBody>
                    <a:bodyPr/>
                    <a:lstStyle/>
                    <a:p>
                      <a:pPr fontAlgn="base">
                        <a:buNone/>
                      </a:pPr>
                      <a:endParaRPr lang="fr-FR" sz="1000">
                        <a:solidFill>
                          <a:srgbClr val="000000"/>
                        </a:solidFill>
                        <a:effectLst/>
                        <a:latin typeface="Arial" panose="020B0604020202020204" pitchFamily="34" charset="0"/>
                      </a:endParaRPr>
                    </a:p>
                  </a:txBody>
                  <a:tcPr marL="0" marR="0" marT="0" marB="0" anchor="b"/>
                </a:tc>
                <a:extLst>
                  <a:ext uri="{0D108BD9-81ED-4DB2-BD59-A6C34878D82A}">
                    <a16:rowId xmlns:a16="http://schemas.microsoft.com/office/drawing/2014/main" val="2700749323"/>
                  </a:ext>
                </a:extLst>
              </a:tr>
              <a:tr h="174660">
                <a:tc>
                  <a:txBody>
                    <a:bodyPr/>
                    <a:lstStyle/>
                    <a:p>
                      <a:pPr fontAlgn="b">
                        <a:buNone/>
                      </a:pPr>
                      <a:r>
                        <a:rPr lang="fr-FR" sz="1200">
                          <a:effectLst/>
                        </a:rPr>
                        <a:t>1</a:t>
                      </a:r>
                      <a:endParaRPr lang="fr-FR" sz="1200">
                        <a:solidFill>
                          <a:srgbClr val="000000"/>
                        </a:solidFill>
                        <a:effectLst/>
                        <a:latin typeface="Calibri" panose="020F0502020204030204" pitchFamily="34" charset="0"/>
                      </a:endParaRPr>
                    </a:p>
                  </a:txBody>
                  <a:tcPr marL="0" marR="0" marT="0" marB="0" anchor="b"/>
                </a:tc>
                <a:tc>
                  <a:txBody>
                    <a:bodyPr/>
                    <a:lstStyle/>
                    <a:p>
                      <a:pPr fontAlgn="b">
                        <a:buNone/>
                      </a:pPr>
                      <a:r>
                        <a:rPr lang="fr-FR" sz="1200">
                          <a:effectLst/>
                        </a:rPr>
                        <a:t>2</a:t>
                      </a:r>
                      <a:endParaRPr lang="fr-FR" sz="1200">
                        <a:solidFill>
                          <a:srgbClr val="000000"/>
                        </a:solidFill>
                        <a:effectLst/>
                        <a:latin typeface="Calibri" panose="020F0502020204030204" pitchFamily="34" charset="0"/>
                      </a:endParaRPr>
                    </a:p>
                  </a:txBody>
                  <a:tcPr marL="0" marR="0" marT="0" marB="0" anchor="b"/>
                </a:tc>
                <a:tc>
                  <a:txBody>
                    <a:bodyPr/>
                    <a:lstStyle/>
                    <a:p>
                      <a:pPr fontAlgn="b">
                        <a:buNone/>
                      </a:pPr>
                      <a:r>
                        <a:rPr lang="fr-FR" sz="800">
                          <a:effectLst/>
                        </a:rPr>
                        <a:t>R3.01</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46934997"/>
                  </a:ext>
                </a:extLst>
              </a:tr>
              <a:tr h="174660">
                <a:tc>
                  <a:txBody>
                    <a:bodyPr/>
                    <a:lstStyle/>
                    <a:p>
                      <a:pPr fontAlgn="b">
                        <a:buNone/>
                      </a:pPr>
                      <a:r>
                        <a:rPr lang="fr-FR" sz="1200">
                          <a:effectLst/>
                        </a:rPr>
                        <a:t>1</a:t>
                      </a:r>
                      <a:endParaRPr lang="fr-FR" sz="1200">
                        <a:solidFill>
                          <a:srgbClr val="000000"/>
                        </a:solidFill>
                        <a:effectLst/>
                        <a:latin typeface="Calibri" panose="020F0502020204030204" pitchFamily="34" charset="0"/>
                      </a:endParaRPr>
                    </a:p>
                  </a:txBody>
                  <a:tcPr marL="0" marR="0" marT="0" marB="0" anchor="b"/>
                </a:tc>
                <a:tc>
                  <a:txBody>
                    <a:bodyPr/>
                    <a:lstStyle/>
                    <a:p>
                      <a:pPr fontAlgn="b">
                        <a:buNone/>
                      </a:pPr>
                      <a:r>
                        <a:rPr lang="fr-FR" sz="1200">
                          <a:effectLst/>
                        </a:rPr>
                        <a:t>3</a:t>
                      </a:r>
                      <a:endParaRPr lang="fr-FR" sz="1200">
                        <a:solidFill>
                          <a:srgbClr val="000000"/>
                        </a:solidFill>
                        <a:effectLst/>
                        <a:latin typeface="Calibri" panose="020F0502020204030204" pitchFamily="34" charset="0"/>
                      </a:endParaRPr>
                    </a:p>
                  </a:txBody>
                  <a:tcPr marL="0" marR="0" marT="0" marB="0" anchor="b"/>
                </a:tc>
                <a:tc>
                  <a:txBody>
                    <a:bodyPr/>
                    <a:lstStyle/>
                    <a:p>
                      <a:pPr fontAlgn="b">
                        <a:buNone/>
                      </a:pPr>
                      <a:r>
                        <a:rPr lang="fr-FR" sz="1000">
                          <a:effectLst/>
                        </a:rPr>
                        <a:t>web</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27768724"/>
                  </a:ext>
                </a:extLst>
              </a:tr>
              <a:tr h="174660">
                <a:tc>
                  <a:txBody>
                    <a:bodyPr/>
                    <a:lstStyle/>
                    <a:p>
                      <a:pPr fontAlgn="b">
                        <a:buNone/>
                      </a:pPr>
                      <a:r>
                        <a:rPr lang="fr-FR" sz="1200">
                          <a:effectLst/>
                        </a:rPr>
                        <a:t>1</a:t>
                      </a:r>
                      <a:endParaRPr lang="fr-FR" sz="1200">
                        <a:solidFill>
                          <a:srgbClr val="000000"/>
                        </a:solidFill>
                        <a:effectLst/>
                        <a:latin typeface="Calibri" panose="020F0502020204030204" pitchFamily="34" charset="0"/>
                      </a:endParaRPr>
                    </a:p>
                  </a:txBody>
                  <a:tcPr marL="0" marR="0" marT="0" marB="0" anchor="b"/>
                </a:tc>
                <a:tc>
                  <a:txBody>
                    <a:bodyPr/>
                    <a:lstStyle/>
                    <a:p>
                      <a:pPr fontAlgn="b">
                        <a:buNone/>
                      </a:pPr>
                      <a:r>
                        <a:rPr lang="fr-FR" sz="1200">
                          <a:effectLst/>
                        </a:rPr>
                        <a:t>3</a:t>
                      </a: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18423152"/>
                  </a:ext>
                </a:extLst>
              </a:tr>
              <a:tr h="174660">
                <a:tc>
                  <a:txBody>
                    <a:bodyPr/>
                    <a:lstStyle/>
                    <a:p>
                      <a:pPr fontAlgn="b">
                        <a:buNone/>
                      </a:pPr>
                      <a:r>
                        <a:rPr lang="fr-FR" sz="1200">
                          <a:effectLst/>
                        </a:rPr>
                        <a:t>1</a:t>
                      </a:r>
                      <a:endParaRPr lang="fr-FR" sz="1200">
                        <a:solidFill>
                          <a:srgbClr val="000000"/>
                        </a:solidFill>
                        <a:effectLst/>
                        <a:latin typeface="Calibri" panose="020F0502020204030204" pitchFamily="34" charset="0"/>
                      </a:endParaRPr>
                    </a:p>
                  </a:txBody>
                  <a:tcPr marL="0" marR="0" marT="0" marB="0" anchor="b"/>
                </a:tc>
                <a:tc>
                  <a:txBody>
                    <a:bodyPr/>
                    <a:lstStyle/>
                    <a:p>
                      <a:pPr fontAlgn="b">
                        <a:buNone/>
                      </a:pPr>
                      <a:r>
                        <a:rPr lang="fr-FR" sz="1200">
                          <a:effectLst/>
                        </a:rPr>
                        <a:t>3</a:t>
                      </a: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962831024"/>
                  </a:ext>
                </a:extLst>
              </a:tr>
              <a:tr h="174660">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038614693"/>
                  </a:ext>
                </a:extLst>
              </a:tr>
              <a:tr h="174660">
                <a:tc>
                  <a:txBody>
                    <a:bodyPr/>
                    <a:lstStyle/>
                    <a:p>
                      <a:pPr fontAlgn="b">
                        <a:buNone/>
                      </a:pPr>
                      <a:r>
                        <a:rPr lang="fr-FR" sz="1200">
                          <a:effectLst/>
                        </a:rPr>
                        <a:t>1</a:t>
                      </a:r>
                      <a:endParaRPr lang="fr-FR" sz="1200">
                        <a:solidFill>
                          <a:srgbClr val="000000"/>
                        </a:solidFill>
                        <a:effectLst/>
                        <a:latin typeface="Calibri" panose="020F0502020204030204" pitchFamily="34" charset="0"/>
                      </a:endParaRPr>
                    </a:p>
                  </a:txBody>
                  <a:tcPr marL="0" marR="0" marT="0" marB="0" anchor="b"/>
                </a:tc>
                <a:tc>
                  <a:txBody>
                    <a:bodyPr/>
                    <a:lstStyle/>
                    <a:p>
                      <a:pPr fontAlgn="b">
                        <a:buNone/>
                      </a:pPr>
                      <a:r>
                        <a:rPr lang="fr-FR" sz="1200">
                          <a:effectLst/>
                        </a:rPr>
                        <a:t>3</a:t>
                      </a: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60573409"/>
                  </a:ext>
                </a:extLst>
              </a:tr>
              <a:tr h="183220">
                <a:tc>
                  <a:txBody>
                    <a:bodyPr/>
                    <a:lstStyle/>
                    <a:p>
                      <a:pPr fontAlgn="base">
                        <a:buNone/>
                      </a:pPr>
                      <a:endParaRPr lang="fr-FR" sz="1000">
                        <a:solidFill>
                          <a:srgbClr val="000000"/>
                        </a:solidFill>
                        <a:effectLst/>
                        <a:latin typeface="Arial" panose="020B0604020202020204" pitchFamily="34" charset="0"/>
                      </a:endParaRPr>
                    </a:p>
                  </a:txBody>
                  <a:tcPr marL="0" marR="0" marT="0" marB="0" anchor="b"/>
                </a:tc>
                <a:tc>
                  <a:txBody>
                    <a:bodyPr/>
                    <a:lstStyle/>
                    <a:p>
                      <a:pPr fontAlgn="b">
                        <a:buNone/>
                      </a:pPr>
                      <a:r>
                        <a:rPr lang="fr-FR" sz="1200">
                          <a:effectLst/>
                        </a:rPr>
                        <a:t>2</a:t>
                      </a: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36535472"/>
                  </a:ext>
                </a:extLst>
              </a:tr>
              <a:tr h="174660">
                <a:tc>
                  <a:txBody>
                    <a:bodyPr/>
                    <a:lstStyle/>
                    <a:p>
                      <a:pPr fontAlgn="base">
                        <a:buNone/>
                      </a:pPr>
                      <a:endParaRPr lang="fr-FR" sz="1000">
                        <a:solidFill>
                          <a:srgbClr val="000000"/>
                        </a:solidFill>
                        <a:effectLst/>
                        <a:latin typeface="Arial" panose="020B0604020202020204" pitchFamily="34" charset="0"/>
                      </a:endParaRPr>
                    </a:p>
                  </a:txBody>
                  <a:tcPr marL="0" marR="0" marT="0" marB="0" anchor="b"/>
                </a:tc>
                <a:tc>
                  <a:txBody>
                    <a:bodyPr/>
                    <a:lstStyle/>
                    <a:p>
                      <a:pPr fontAlgn="b">
                        <a:buNone/>
                      </a:pPr>
                      <a:r>
                        <a:rPr lang="fr-FR" sz="1200" dirty="0">
                          <a:effectLst/>
                        </a:rPr>
                        <a:t>3</a:t>
                      </a:r>
                      <a:endParaRPr lang="fr-FR" sz="1200" dirty="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168815856"/>
                  </a:ext>
                </a:extLst>
              </a:tr>
              <a:tr h="174660">
                <a:tc>
                  <a:txBody>
                    <a:bodyPr/>
                    <a:lstStyle/>
                    <a:p>
                      <a:pPr fontAlgn="base">
                        <a:buNone/>
                      </a:pPr>
                      <a:endParaRPr lang="fr-FR" sz="1000">
                        <a:solidFill>
                          <a:srgbClr val="000000"/>
                        </a:solidFill>
                        <a:effectLst/>
                        <a:latin typeface="Arial" panose="020B0604020202020204" pitchFamily="34" charset="0"/>
                      </a:endParaRPr>
                    </a:p>
                  </a:txBody>
                  <a:tcPr marL="0" marR="0" marT="0" marB="0" anchor="b"/>
                </a:tc>
                <a:tc>
                  <a:txBody>
                    <a:bodyPr/>
                    <a:lstStyle/>
                    <a:p>
                      <a:pPr fontAlgn="b">
                        <a:buNone/>
                      </a:pPr>
                      <a:r>
                        <a:rPr lang="fr-FR" sz="1200">
                          <a:effectLst/>
                        </a:rPr>
                        <a:t>3</a:t>
                      </a: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232873231"/>
                  </a:ext>
                </a:extLst>
              </a:tr>
              <a:tr h="174660">
                <a:tc>
                  <a:txBody>
                    <a:bodyPr/>
                    <a:lstStyle/>
                    <a:p>
                      <a:pPr fontAlgn="base">
                        <a:buNone/>
                      </a:pPr>
                      <a:endParaRPr lang="fr-FR" sz="1000">
                        <a:solidFill>
                          <a:srgbClr val="000000"/>
                        </a:solidFill>
                        <a:effectLst/>
                        <a:latin typeface="Arial" panose="020B0604020202020204" pitchFamily="34" charset="0"/>
                      </a:endParaRPr>
                    </a:p>
                  </a:txBody>
                  <a:tcPr marL="0" marR="0" marT="0" marB="0" anchor="b"/>
                </a:tc>
                <a:tc>
                  <a:txBody>
                    <a:bodyPr/>
                    <a:lstStyle/>
                    <a:p>
                      <a:pPr fontAlgn="b">
                        <a:buNone/>
                      </a:pPr>
                      <a:r>
                        <a:rPr lang="fr-FR" sz="1200" dirty="0">
                          <a:effectLst/>
                        </a:rPr>
                        <a:t>3</a:t>
                      </a:r>
                      <a:endParaRPr lang="fr-FR" sz="1200" dirty="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31105"/>
                  </a:ext>
                </a:extLst>
              </a:tr>
              <a:tr h="174660">
                <a:tc>
                  <a:txBody>
                    <a:bodyPr/>
                    <a:lstStyle/>
                    <a:p>
                      <a:pPr fontAlgn="base">
                        <a:buNone/>
                      </a:pPr>
                      <a:endParaRPr lang="fr-FR" sz="1000" b="1">
                        <a:solidFill>
                          <a:srgbClr val="000000"/>
                        </a:solidFill>
                        <a:effectLst/>
                        <a:latin typeface="Arial" panose="020B0604020202020204" pitchFamily="34" charset="0"/>
                      </a:endParaRPr>
                    </a:p>
                  </a:txBody>
                  <a:tcPr marL="0" marR="0" marT="0" marB="0" anchor="b"/>
                </a:tc>
                <a:tc>
                  <a:txBody>
                    <a:bodyPr/>
                    <a:lstStyle/>
                    <a:p>
                      <a:pPr fontAlgn="b">
                        <a:buNone/>
                      </a:pPr>
                      <a:r>
                        <a:rPr lang="fr-FR" sz="1200">
                          <a:effectLst/>
                        </a:rPr>
                        <a:t>3</a:t>
                      </a: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55749193"/>
                  </a:ext>
                </a:extLst>
              </a:tr>
              <a:tr h="174660">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a:solidFill>
                          <a:srgbClr val="000000"/>
                        </a:solidFill>
                        <a:effectLst/>
                        <a:latin typeface="Calibri" panose="020F0502020204030204" pitchFamily="34" charset="0"/>
                      </a:endParaRPr>
                    </a:p>
                  </a:txBody>
                  <a:tcPr marL="0" marR="0" marT="0" marB="0" anchor="b"/>
                </a:tc>
                <a:tc>
                  <a:txBody>
                    <a:bodyPr/>
                    <a:lstStyle/>
                    <a:p>
                      <a:pPr fontAlgn="base">
                        <a:buNone/>
                      </a:pPr>
                      <a:endParaRPr lang="fr-FR" sz="120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809302885"/>
                  </a:ext>
                </a:extLst>
              </a:tr>
            </a:tbl>
          </a:graphicData>
        </a:graphic>
      </p:graphicFrame>
      <p:graphicFrame>
        <p:nvGraphicFramePr>
          <p:cNvPr id="8" name="Tableau 7">
            <a:extLst>
              <a:ext uri="{FF2B5EF4-FFF2-40B4-BE49-F238E27FC236}">
                <a16:creationId xmlns:a16="http://schemas.microsoft.com/office/drawing/2014/main" id="{C2E75188-9094-C4FB-9161-149C480D15B5}"/>
              </a:ext>
            </a:extLst>
          </p:cNvPr>
          <p:cNvGraphicFramePr>
            <a:graphicFrameLocks noGrp="1"/>
          </p:cNvGraphicFramePr>
          <p:nvPr>
            <p:extLst>
              <p:ext uri="{D42A27DB-BD31-4B8C-83A1-F6EECF244321}">
                <p14:modId xmlns:p14="http://schemas.microsoft.com/office/powerpoint/2010/main" val="4219350568"/>
              </p:ext>
            </p:extLst>
          </p:nvPr>
        </p:nvGraphicFramePr>
        <p:xfrm>
          <a:off x="8644632" y="2238534"/>
          <a:ext cx="830567" cy="3403600"/>
        </p:xfrm>
        <a:graphic>
          <a:graphicData uri="http://schemas.openxmlformats.org/drawingml/2006/table">
            <a:tbl>
              <a:tblPr>
                <a:tableStyleId>{5C22544A-7EE6-4342-B048-85BDC9FD1C3A}</a:tableStyleId>
              </a:tblPr>
              <a:tblGrid>
                <a:gridCol w="830567">
                  <a:extLst>
                    <a:ext uri="{9D8B030D-6E8A-4147-A177-3AD203B41FA5}">
                      <a16:colId xmlns:a16="http://schemas.microsoft.com/office/drawing/2014/main" val="2781898101"/>
                    </a:ext>
                  </a:extLst>
                </a:gridCol>
              </a:tblGrid>
              <a:tr h="0">
                <a:tc>
                  <a:txBody>
                    <a:bodyPr/>
                    <a:lstStyle/>
                    <a:p>
                      <a:pPr fontAlgn="b">
                        <a:buNone/>
                      </a:pPr>
                      <a:r>
                        <a:rPr lang="fr-FR" sz="1200">
                          <a:effectLst/>
                        </a:rPr>
                        <a:t>Semaine</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47319131"/>
                  </a:ext>
                </a:extLst>
              </a:tr>
              <a:tr h="0">
                <a:tc>
                  <a:txBody>
                    <a:bodyPr/>
                    <a:lstStyle/>
                    <a:p>
                      <a:pPr fontAlgn="b">
                        <a:buNone/>
                      </a:pPr>
                      <a:r>
                        <a:rPr lang="fr-FR" sz="1200">
                          <a:effectLst/>
                        </a:rPr>
                        <a:t>35</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55125201"/>
                  </a:ext>
                </a:extLst>
              </a:tr>
              <a:tr h="0">
                <a:tc>
                  <a:txBody>
                    <a:bodyPr/>
                    <a:lstStyle/>
                    <a:p>
                      <a:pPr fontAlgn="b">
                        <a:buNone/>
                      </a:pPr>
                      <a:r>
                        <a:rPr lang="fr-FR" sz="1200">
                          <a:effectLst/>
                        </a:rPr>
                        <a:t>36</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03655268"/>
                  </a:ext>
                </a:extLst>
              </a:tr>
              <a:tr h="0">
                <a:tc>
                  <a:txBody>
                    <a:bodyPr/>
                    <a:lstStyle/>
                    <a:p>
                      <a:pPr fontAlgn="b">
                        <a:buNone/>
                      </a:pPr>
                      <a:r>
                        <a:rPr lang="fr-FR" sz="1200">
                          <a:effectLst/>
                        </a:rPr>
                        <a:t>37</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779434940"/>
                  </a:ext>
                </a:extLst>
              </a:tr>
              <a:tr h="0">
                <a:tc>
                  <a:txBody>
                    <a:bodyPr/>
                    <a:lstStyle/>
                    <a:p>
                      <a:pPr fontAlgn="b">
                        <a:buNone/>
                      </a:pPr>
                      <a:r>
                        <a:rPr lang="fr-FR" sz="1200">
                          <a:effectLst/>
                        </a:rPr>
                        <a:t>38</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566035366"/>
                  </a:ext>
                </a:extLst>
              </a:tr>
              <a:tr h="0">
                <a:tc>
                  <a:txBody>
                    <a:bodyPr/>
                    <a:lstStyle/>
                    <a:p>
                      <a:pPr fontAlgn="b">
                        <a:buNone/>
                      </a:pPr>
                      <a:r>
                        <a:rPr lang="fr-FR" sz="1200">
                          <a:effectLst/>
                        </a:rPr>
                        <a:t>39</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81783655"/>
                  </a:ext>
                </a:extLst>
              </a:tr>
              <a:tr h="0">
                <a:tc>
                  <a:txBody>
                    <a:bodyPr/>
                    <a:lstStyle/>
                    <a:p>
                      <a:pPr fontAlgn="b">
                        <a:buNone/>
                      </a:pPr>
                      <a:r>
                        <a:rPr lang="fr-FR" sz="1200">
                          <a:effectLst/>
                        </a:rPr>
                        <a:t>40</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11316557"/>
                  </a:ext>
                </a:extLst>
              </a:tr>
              <a:tr h="0">
                <a:tc>
                  <a:txBody>
                    <a:bodyPr/>
                    <a:lstStyle/>
                    <a:p>
                      <a:pPr fontAlgn="b">
                        <a:buNone/>
                      </a:pPr>
                      <a:r>
                        <a:rPr lang="fr-FR" sz="1200">
                          <a:effectLst/>
                        </a:rPr>
                        <a:t>41</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46373420"/>
                  </a:ext>
                </a:extLst>
              </a:tr>
              <a:tr h="0">
                <a:tc>
                  <a:txBody>
                    <a:bodyPr/>
                    <a:lstStyle/>
                    <a:p>
                      <a:pPr fontAlgn="b">
                        <a:buNone/>
                      </a:pPr>
                      <a:r>
                        <a:rPr lang="fr-FR" sz="1200">
                          <a:effectLst/>
                        </a:rPr>
                        <a:t>42</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012015774"/>
                  </a:ext>
                </a:extLst>
              </a:tr>
              <a:tr h="0">
                <a:tc>
                  <a:txBody>
                    <a:bodyPr/>
                    <a:lstStyle/>
                    <a:p>
                      <a:pPr fontAlgn="b">
                        <a:buNone/>
                      </a:pPr>
                      <a:r>
                        <a:rPr lang="fr-FR" sz="1200">
                          <a:effectLst/>
                        </a:rPr>
                        <a:t>43</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076987058"/>
                  </a:ext>
                </a:extLst>
              </a:tr>
              <a:tr h="0">
                <a:tc>
                  <a:txBody>
                    <a:bodyPr/>
                    <a:lstStyle/>
                    <a:p>
                      <a:pPr fontAlgn="b">
                        <a:buNone/>
                      </a:pPr>
                      <a:r>
                        <a:rPr lang="fr-FR" sz="1200">
                          <a:effectLst/>
                        </a:rPr>
                        <a:t>44</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28567596"/>
                  </a:ext>
                </a:extLst>
              </a:tr>
              <a:tr h="215900">
                <a:tc>
                  <a:txBody>
                    <a:bodyPr/>
                    <a:lstStyle/>
                    <a:p>
                      <a:pPr fontAlgn="b">
                        <a:buNone/>
                      </a:pPr>
                      <a:r>
                        <a:rPr lang="fr-FR" sz="1200">
                          <a:effectLst/>
                        </a:rPr>
                        <a:t>45</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62422777"/>
                  </a:ext>
                </a:extLst>
              </a:tr>
              <a:tr h="228600">
                <a:tc>
                  <a:txBody>
                    <a:bodyPr/>
                    <a:lstStyle/>
                    <a:p>
                      <a:pPr fontAlgn="b">
                        <a:buNone/>
                      </a:pPr>
                      <a:r>
                        <a:rPr lang="fr-FR" sz="1200">
                          <a:effectLst/>
                        </a:rPr>
                        <a:t>46</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76257282"/>
                  </a:ext>
                </a:extLst>
              </a:tr>
              <a:tr h="215900">
                <a:tc>
                  <a:txBody>
                    <a:bodyPr/>
                    <a:lstStyle/>
                    <a:p>
                      <a:pPr fontAlgn="b">
                        <a:buNone/>
                      </a:pPr>
                      <a:r>
                        <a:rPr lang="fr-FR" sz="1200">
                          <a:effectLst/>
                        </a:rPr>
                        <a:t>47</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200721323"/>
                  </a:ext>
                </a:extLst>
              </a:tr>
              <a:tr h="0">
                <a:tc>
                  <a:txBody>
                    <a:bodyPr/>
                    <a:lstStyle/>
                    <a:p>
                      <a:pPr fontAlgn="b">
                        <a:buNone/>
                      </a:pPr>
                      <a:r>
                        <a:rPr lang="fr-FR" sz="1200">
                          <a:effectLst/>
                        </a:rPr>
                        <a:t>48</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105735577"/>
                  </a:ext>
                </a:extLst>
              </a:tr>
              <a:tr h="0">
                <a:tc>
                  <a:txBody>
                    <a:bodyPr/>
                    <a:lstStyle/>
                    <a:p>
                      <a:pPr fontAlgn="b">
                        <a:buNone/>
                      </a:pPr>
                      <a:r>
                        <a:rPr lang="fr-FR" sz="1200">
                          <a:effectLst/>
                        </a:rPr>
                        <a:t>49</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293594434"/>
                  </a:ext>
                </a:extLst>
              </a:tr>
              <a:tr h="0">
                <a:tc>
                  <a:txBody>
                    <a:bodyPr/>
                    <a:lstStyle/>
                    <a:p>
                      <a:pPr fontAlgn="b">
                        <a:buNone/>
                      </a:pPr>
                      <a:r>
                        <a:rPr lang="fr-FR" sz="1200">
                          <a:effectLst/>
                        </a:rPr>
                        <a:t>50</a:t>
                      </a:r>
                      <a:endParaRPr lang="fr-FR" sz="120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085420620"/>
                  </a:ext>
                </a:extLst>
              </a:tr>
              <a:tr h="0">
                <a:tc>
                  <a:txBody>
                    <a:bodyPr/>
                    <a:lstStyle/>
                    <a:p>
                      <a:pPr fontAlgn="b">
                        <a:buNone/>
                      </a:pPr>
                      <a:r>
                        <a:rPr lang="fr-FR" sz="1200" dirty="0">
                          <a:effectLst/>
                        </a:rPr>
                        <a:t>51</a:t>
                      </a:r>
                      <a:endParaRPr lang="fr-FR" sz="1200"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16975450"/>
                  </a:ext>
                </a:extLst>
              </a:tr>
            </a:tbl>
          </a:graphicData>
        </a:graphic>
      </p:graphicFrame>
    </p:spTree>
    <p:extLst>
      <p:ext uri="{BB962C8B-B14F-4D97-AF65-F5344CB8AC3E}">
        <p14:creationId xmlns:p14="http://schemas.microsoft.com/office/powerpoint/2010/main" val="737539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A111DC-4A65-4E44-A47C-6661C1A7C4C4}"/>
              </a:ext>
            </a:extLst>
          </p:cNvPr>
          <p:cNvSpPr>
            <a:spLocks noGrp="1"/>
          </p:cNvSpPr>
          <p:nvPr>
            <p:ph type="title"/>
          </p:nvPr>
        </p:nvSpPr>
        <p:spPr/>
        <p:txBody>
          <a:bodyPr/>
          <a:lstStyle/>
          <a:p>
            <a:r>
              <a:rPr lang="fr-FR" dirty="0"/>
              <a:t>Les références</a:t>
            </a:r>
          </a:p>
        </p:txBody>
      </p:sp>
      <p:sp>
        <p:nvSpPr>
          <p:cNvPr id="3" name="Espace réservé du contenu 2">
            <a:extLst>
              <a:ext uri="{FF2B5EF4-FFF2-40B4-BE49-F238E27FC236}">
                <a16:creationId xmlns:a16="http://schemas.microsoft.com/office/drawing/2014/main" id="{2F885351-6B43-6B46-B9B5-98B7B8FA9C3D}"/>
              </a:ext>
            </a:extLst>
          </p:cNvPr>
          <p:cNvSpPr>
            <a:spLocks noGrp="1"/>
          </p:cNvSpPr>
          <p:nvPr>
            <p:ph idx="1"/>
          </p:nvPr>
        </p:nvSpPr>
        <p:spPr/>
        <p:txBody>
          <a:bodyPr>
            <a:normAutofit fontScale="55000" lnSpcReduction="20000"/>
          </a:bodyPr>
          <a:lstStyle/>
          <a:p>
            <a:pPr marL="0" indent="0">
              <a:buNone/>
            </a:pPr>
            <a:r>
              <a:rPr lang="fr-FR" dirty="0"/>
              <a:t>JEE</a:t>
            </a:r>
          </a:p>
          <a:p>
            <a:pPr marL="0" indent="0">
              <a:buNone/>
            </a:pPr>
            <a:r>
              <a:rPr lang="fr-FR" dirty="0"/>
              <a:t>	</a:t>
            </a:r>
            <a:r>
              <a:rPr lang="fr-FR" dirty="0">
                <a:hlinkClick r:id="rId2"/>
              </a:rPr>
              <a:t>https://www.oracle.com/fr/java/technologies/java-ee-glance.html</a:t>
            </a:r>
            <a:endParaRPr lang="fr-FR" dirty="0"/>
          </a:p>
          <a:p>
            <a:pPr marL="0" indent="0">
              <a:buNone/>
            </a:pPr>
            <a:endParaRPr lang="fr-FR" dirty="0"/>
          </a:p>
          <a:p>
            <a:pPr marL="0" indent="0">
              <a:buNone/>
            </a:pPr>
            <a:r>
              <a:rPr lang="fr-FR" dirty="0"/>
              <a:t>Servlet</a:t>
            </a:r>
          </a:p>
          <a:p>
            <a:pPr marL="0" indent="0">
              <a:buNone/>
            </a:pPr>
            <a:r>
              <a:rPr lang="fr-FR" dirty="0"/>
              <a:t>	</a:t>
            </a:r>
            <a:r>
              <a:rPr lang="fr-FR" dirty="0">
                <a:hlinkClick r:id="rId3"/>
              </a:rPr>
              <a:t>https://www.oracle.com/java/technologies/java-servlet-tec.html</a:t>
            </a:r>
            <a:endParaRPr lang="fr-FR" dirty="0"/>
          </a:p>
          <a:p>
            <a:pPr marL="0" indent="0">
              <a:buNone/>
            </a:pPr>
            <a:endParaRPr lang="fr-FR" dirty="0"/>
          </a:p>
          <a:p>
            <a:pPr marL="0" indent="0">
              <a:buNone/>
            </a:pPr>
            <a:r>
              <a:rPr lang="fr-FR" dirty="0"/>
              <a:t>JSP </a:t>
            </a:r>
          </a:p>
          <a:p>
            <a:pPr marL="0" indent="0">
              <a:buNone/>
            </a:pPr>
            <a:r>
              <a:rPr lang="fr-FR" dirty="0"/>
              <a:t>	</a:t>
            </a:r>
            <a:r>
              <a:rPr lang="fr-FR" dirty="0">
                <a:hlinkClick r:id="rId4"/>
              </a:rPr>
              <a:t>https://www.oracle.com/java/technologies/jspt.html</a:t>
            </a:r>
            <a:endParaRPr lang="fr-FR" dirty="0"/>
          </a:p>
          <a:p>
            <a:pPr marL="0" indent="0">
              <a:buNone/>
            </a:pPr>
            <a:endParaRPr lang="fr-FR" dirty="0"/>
          </a:p>
          <a:p>
            <a:pPr marL="0" indent="0">
              <a:buNone/>
            </a:pPr>
            <a:r>
              <a:rPr lang="fr-FR" dirty="0"/>
              <a:t>JPA</a:t>
            </a:r>
          </a:p>
          <a:p>
            <a:pPr marL="0" indent="0">
              <a:buNone/>
            </a:pPr>
            <a:r>
              <a:rPr lang="fr-FR" dirty="0"/>
              <a:t>	</a:t>
            </a:r>
            <a:r>
              <a:rPr lang="fr-FR" dirty="0">
                <a:hlinkClick r:id="rId5"/>
              </a:rPr>
              <a:t>https://www.oracle.com/java/technologies/persistence-jsp.html</a:t>
            </a:r>
            <a:endParaRPr lang="fr-FR" dirty="0"/>
          </a:p>
          <a:p>
            <a:pPr marL="0" indent="0">
              <a:buNone/>
            </a:pPr>
            <a:endParaRPr lang="fr-FR" dirty="0"/>
          </a:p>
          <a:p>
            <a:pPr marL="0" indent="0">
              <a:buNone/>
            </a:pPr>
            <a:r>
              <a:rPr lang="fr-FR" dirty="0"/>
              <a:t>Spring Boot</a:t>
            </a:r>
          </a:p>
          <a:p>
            <a:pPr marL="0" indent="0">
              <a:buNone/>
            </a:pPr>
            <a:r>
              <a:rPr lang="fr-FR" dirty="0"/>
              <a:t>	</a:t>
            </a:r>
            <a:r>
              <a:rPr lang="fr-FR" dirty="0">
                <a:hlinkClick r:id="rId6"/>
              </a:rPr>
              <a:t>https://spring.io/projects/spring-boot</a:t>
            </a:r>
            <a:endParaRPr lang="fr-FR" dirty="0"/>
          </a:p>
          <a:p>
            <a:pPr marL="0" indent="0">
              <a:buNone/>
            </a:pPr>
            <a:endParaRPr lang="fr-FR" dirty="0"/>
          </a:p>
          <a:p>
            <a:pPr marL="0" indent="0">
              <a:buNone/>
            </a:pPr>
            <a:endParaRPr lang="fr-FR" dirty="0"/>
          </a:p>
          <a:p>
            <a:endParaRPr lang="fr-FR" dirty="0"/>
          </a:p>
        </p:txBody>
      </p:sp>
    </p:spTree>
    <p:extLst>
      <p:ext uri="{BB962C8B-B14F-4D97-AF65-F5344CB8AC3E}">
        <p14:creationId xmlns:p14="http://schemas.microsoft.com/office/powerpoint/2010/main" val="2128829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32DA22-53C2-44FD-E339-BD3897A47F92}"/>
              </a:ext>
            </a:extLst>
          </p:cNvPr>
          <p:cNvSpPr>
            <a:spLocks noGrp="1"/>
          </p:cNvSpPr>
          <p:nvPr>
            <p:ph type="title"/>
          </p:nvPr>
        </p:nvSpPr>
        <p:spPr/>
        <p:txBody>
          <a:bodyPr/>
          <a:lstStyle/>
          <a:p>
            <a:r>
              <a:rPr lang="fr-FR" dirty="0"/>
              <a:t>Architecture Applicative – 1 tiers</a:t>
            </a:r>
          </a:p>
        </p:txBody>
      </p:sp>
      <p:sp>
        <p:nvSpPr>
          <p:cNvPr id="3" name="Espace réservé du contenu 2">
            <a:extLst>
              <a:ext uri="{FF2B5EF4-FFF2-40B4-BE49-F238E27FC236}">
                <a16:creationId xmlns:a16="http://schemas.microsoft.com/office/drawing/2014/main" id="{5FFD3285-ADA0-5133-42C3-B9B280649786}"/>
              </a:ext>
            </a:extLst>
          </p:cNvPr>
          <p:cNvSpPr>
            <a:spLocks noGrp="1"/>
          </p:cNvSpPr>
          <p:nvPr>
            <p:ph idx="1"/>
          </p:nvPr>
        </p:nvSpPr>
        <p:spPr/>
        <p:txBody>
          <a:bodyPr/>
          <a:lstStyle/>
          <a:p>
            <a:pPr marL="0" indent="0">
              <a:buNone/>
            </a:pPr>
            <a:r>
              <a:rPr lang="fr-FR" dirty="0"/>
              <a:t>Année 70, architecture main frame</a:t>
            </a:r>
          </a:p>
          <a:p>
            <a:pPr marL="0" indent="0">
              <a:buNone/>
            </a:pPr>
            <a:endParaRPr lang="fr-FR" dirty="0"/>
          </a:p>
          <a:p>
            <a:pPr marL="0" indent="0">
              <a:buNone/>
            </a:pPr>
            <a:endParaRPr lang="fr-FR" dirty="0"/>
          </a:p>
        </p:txBody>
      </p:sp>
      <p:pic>
        <p:nvPicPr>
          <p:cNvPr id="4" name="Image 3">
            <a:extLst>
              <a:ext uri="{FF2B5EF4-FFF2-40B4-BE49-F238E27FC236}">
                <a16:creationId xmlns:a16="http://schemas.microsoft.com/office/drawing/2014/main" id="{216474A2-3C63-AC18-74E3-EAF53C06D7A4}"/>
              </a:ext>
            </a:extLst>
          </p:cNvPr>
          <p:cNvPicPr>
            <a:picLocks noChangeAspect="1"/>
          </p:cNvPicPr>
          <p:nvPr/>
        </p:nvPicPr>
        <p:blipFill>
          <a:blip r:embed="rId2"/>
          <a:stretch>
            <a:fillRect/>
          </a:stretch>
        </p:blipFill>
        <p:spPr>
          <a:xfrm>
            <a:off x="3759200" y="2619704"/>
            <a:ext cx="4673600" cy="1828800"/>
          </a:xfrm>
          <a:prstGeom prst="rect">
            <a:avLst/>
          </a:prstGeom>
        </p:spPr>
      </p:pic>
    </p:spTree>
    <p:extLst>
      <p:ext uri="{BB962C8B-B14F-4D97-AF65-F5344CB8AC3E}">
        <p14:creationId xmlns:p14="http://schemas.microsoft.com/office/powerpoint/2010/main" val="3914472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094515-77D0-1719-76E6-E71E674AED92}"/>
              </a:ext>
            </a:extLst>
          </p:cNvPr>
          <p:cNvSpPr>
            <a:spLocks noGrp="1"/>
          </p:cNvSpPr>
          <p:nvPr>
            <p:ph type="title"/>
          </p:nvPr>
        </p:nvSpPr>
        <p:spPr/>
        <p:txBody>
          <a:bodyPr/>
          <a:lstStyle/>
          <a:p>
            <a:r>
              <a:rPr lang="fr-FR" dirty="0"/>
              <a:t>Architecture Applicative – 2 tiers</a:t>
            </a:r>
          </a:p>
        </p:txBody>
      </p:sp>
      <p:sp>
        <p:nvSpPr>
          <p:cNvPr id="3" name="Espace réservé du contenu 2">
            <a:extLst>
              <a:ext uri="{FF2B5EF4-FFF2-40B4-BE49-F238E27FC236}">
                <a16:creationId xmlns:a16="http://schemas.microsoft.com/office/drawing/2014/main" id="{E6111713-53FD-8CD4-C0CC-4DBEF947CAAD}"/>
              </a:ext>
            </a:extLst>
          </p:cNvPr>
          <p:cNvSpPr>
            <a:spLocks noGrp="1"/>
          </p:cNvSpPr>
          <p:nvPr>
            <p:ph idx="1"/>
          </p:nvPr>
        </p:nvSpPr>
        <p:spPr/>
        <p:txBody>
          <a:bodyPr/>
          <a:lstStyle/>
          <a:p>
            <a:pPr marL="0" indent="0">
              <a:buNone/>
            </a:pPr>
            <a:r>
              <a:rPr lang="fr-FR" dirty="0"/>
              <a:t>Année 80, architecture client serveur</a:t>
            </a:r>
          </a:p>
          <a:p>
            <a:pPr marL="0" indent="0">
              <a:buNone/>
            </a:pPr>
            <a:endParaRPr lang="fr-FR" dirty="0"/>
          </a:p>
        </p:txBody>
      </p:sp>
      <p:pic>
        <p:nvPicPr>
          <p:cNvPr id="4" name="Image 3">
            <a:extLst>
              <a:ext uri="{FF2B5EF4-FFF2-40B4-BE49-F238E27FC236}">
                <a16:creationId xmlns:a16="http://schemas.microsoft.com/office/drawing/2014/main" id="{3E1705A4-09DA-8897-59FC-899B32864D87}"/>
              </a:ext>
            </a:extLst>
          </p:cNvPr>
          <p:cNvPicPr>
            <a:picLocks noChangeAspect="1"/>
          </p:cNvPicPr>
          <p:nvPr/>
        </p:nvPicPr>
        <p:blipFill>
          <a:blip r:embed="rId2"/>
          <a:stretch>
            <a:fillRect/>
          </a:stretch>
        </p:blipFill>
        <p:spPr>
          <a:xfrm>
            <a:off x="5110923" y="2197708"/>
            <a:ext cx="5333732" cy="3979255"/>
          </a:xfrm>
          <a:prstGeom prst="rect">
            <a:avLst/>
          </a:prstGeom>
        </p:spPr>
      </p:pic>
    </p:spTree>
    <p:extLst>
      <p:ext uri="{BB962C8B-B14F-4D97-AF65-F5344CB8AC3E}">
        <p14:creationId xmlns:p14="http://schemas.microsoft.com/office/powerpoint/2010/main" val="637042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0B1010-2389-B050-2D0F-D07EA5CF3789}"/>
              </a:ext>
            </a:extLst>
          </p:cNvPr>
          <p:cNvSpPr>
            <a:spLocks noGrp="1"/>
          </p:cNvSpPr>
          <p:nvPr>
            <p:ph type="title"/>
          </p:nvPr>
        </p:nvSpPr>
        <p:spPr/>
        <p:txBody>
          <a:bodyPr/>
          <a:lstStyle/>
          <a:p>
            <a:r>
              <a:rPr lang="fr-FR" dirty="0"/>
              <a:t>Architecture Applicative – 3 tiers</a:t>
            </a:r>
          </a:p>
        </p:txBody>
      </p:sp>
      <p:sp>
        <p:nvSpPr>
          <p:cNvPr id="3" name="Espace réservé du contenu 2">
            <a:extLst>
              <a:ext uri="{FF2B5EF4-FFF2-40B4-BE49-F238E27FC236}">
                <a16:creationId xmlns:a16="http://schemas.microsoft.com/office/drawing/2014/main" id="{31FBD2E0-05B4-C47D-1409-AB5044366281}"/>
              </a:ext>
            </a:extLst>
          </p:cNvPr>
          <p:cNvSpPr>
            <a:spLocks noGrp="1"/>
          </p:cNvSpPr>
          <p:nvPr>
            <p:ph idx="1"/>
          </p:nvPr>
        </p:nvSpPr>
        <p:spPr/>
        <p:txBody>
          <a:bodyPr/>
          <a:lstStyle/>
          <a:p>
            <a:pPr marL="0" lvl="0" indent="0">
              <a:buNone/>
            </a:pPr>
            <a:r>
              <a:rPr lang="fr-FR" dirty="0"/>
              <a:t>Architecture en couche </a:t>
            </a:r>
          </a:p>
          <a:p>
            <a:pPr lvl="0"/>
            <a:r>
              <a:rPr lang="fr-FR" dirty="0"/>
              <a:t>la couche présentation.</a:t>
            </a:r>
          </a:p>
          <a:p>
            <a:pPr lvl="0"/>
            <a:r>
              <a:rPr lang="fr-FR" dirty="0"/>
              <a:t>la couche application</a:t>
            </a:r>
          </a:p>
          <a:p>
            <a:pPr lvl="0"/>
            <a:r>
              <a:rPr lang="fr-FR" dirty="0"/>
              <a:t>la couche donnée ou métier.</a:t>
            </a:r>
          </a:p>
          <a:p>
            <a:endParaRPr lang="fr-FR" dirty="0"/>
          </a:p>
        </p:txBody>
      </p:sp>
      <p:pic>
        <p:nvPicPr>
          <p:cNvPr id="5" name="Image 4">
            <a:extLst>
              <a:ext uri="{FF2B5EF4-FFF2-40B4-BE49-F238E27FC236}">
                <a16:creationId xmlns:a16="http://schemas.microsoft.com/office/drawing/2014/main" id="{80F142B9-6CE0-E4FD-2332-EE022DA75317}"/>
              </a:ext>
            </a:extLst>
          </p:cNvPr>
          <p:cNvPicPr>
            <a:picLocks noChangeAspect="1"/>
          </p:cNvPicPr>
          <p:nvPr/>
        </p:nvPicPr>
        <p:blipFill>
          <a:blip r:embed="rId2"/>
          <a:stretch>
            <a:fillRect/>
          </a:stretch>
        </p:blipFill>
        <p:spPr>
          <a:xfrm>
            <a:off x="5328744" y="1421573"/>
            <a:ext cx="6145924" cy="3418879"/>
          </a:xfrm>
          <a:prstGeom prst="rect">
            <a:avLst/>
          </a:prstGeom>
        </p:spPr>
      </p:pic>
      <p:pic>
        <p:nvPicPr>
          <p:cNvPr id="6" name="Image 5">
            <a:extLst>
              <a:ext uri="{FF2B5EF4-FFF2-40B4-BE49-F238E27FC236}">
                <a16:creationId xmlns:a16="http://schemas.microsoft.com/office/drawing/2014/main" id="{A81D74BE-C7BD-09CE-4A8F-2BAFDFC994B8}"/>
              </a:ext>
            </a:extLst>
          </p:cNvPr>
          <p:cNvPicPr>
            <a:picLocks noChangeAspect="1"/>
          </p:cNvPicPr>
          <p:nvPr/>
        </p:nvPicPr>
        <p:blipFill>
          <a:blip r:embed="rId3"/>
          <a:stretch>
            <a:fillRect/>
          </a:stretch>
        </p:blipFill>
        <p:spPr>
          <a:xfrm>
            <a:off x="1389117" y="3852863"/>
            <a:ext cx="2540000" cy="2324100"/>
          </a:xfrm>
          <a:prstGeom prst="rect">
            <a:avLst/>
          </a:prstGeom>
        </p:spPr>
      </p:pic>
    </p:spTree>
    <p:extLst>
      <p:ext uri="{BB962C8B-B14F-4D97-AF65-F5344CB8AC3E}">
        <p14:creationId xmlns:p14="http://schemas.microsoft.com/office/powerpoint/2010/main" val="1405378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08A841-F7EA-5825-B09D-04FF82599AC4}"/>
              </a:ext>
            </a:extLst>
          </p:cNvPr>
          <p:cNvSpPr>
            <a:spLocks noGrp="1"/>
          </p:cNvSpPr>
          <p:nvPr>
            <p:ph type="title"/>
          </p:nvPr>
        </p:nvSpPr>
        <p:spPr/>
        <p:txBody>
          <a:bodyPr/>
          <a:lstStyle/>
          <a:p>
            <a:r>
              <a:rPr lang="fr-FR" dirty="0"/>
              <a:t>Architecture Applicative – n tiers</a:t>
            </a:r>
          </a:p>
        </p:txBody>
      </p:sp>
      <p:pic>
        <p:nvPicPr>
          <p:cNvPr id="6" name="Image 5">
            <a:extLst>
              <a:ext uri="{FF2B5EF4-FFF2-40B4-BE49-F238E27FC236}">
                <a16:creationId xmlns:a16="http://schemas.microsoft.com/office/drawing/2014/main" id="{5906FB1A-5931-E8A2-15A9-1E807A411E3F}"/>
              </a:ext>
            </a:extLst>
          </p:cNvPr>
          <p:cNvPicPr>
            <a:picLocks noChangeAspect="1"/>
          </p:cNvPicPr>
          <p:nvPr/>
        </p:nvPicPr>
        <p:blipFill>
          <a:blip r:embed="rId2"/>
          <a:stretch>
            <a:fillRect/>
          </a:stretch>
        </p:blipFill>
        <p:spPr>
          <a:xfrm>
            <a:off x="3889354" y="1458420"/>
            <a:ext cx="4027564" cy="5034455"/>
          </a:xfrm>
          <a:prstGeom prst="rect">
            <a:avLst/>
          </a:prstGeom>
        </p:spPr>
      </p:pic>
    </p:spTree>
    <p:extLst>
      <p:ext uri="{BB962C8B-B14F-4D97-AF65-F5344CB8AC3E}">
        <p14:creationId xmlns:p14="http://schemas.microsoft.com/office/powerpoint/2010/main" val="4294930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478E38-32E3-6446-9825-868D53960F50}"/>
              </a:ext>
            </a:extLst>
          </p:cNvPr>
          <p:cNvSpPr>
            <a:spLocks noGrp="1"/>
          </p:cNvSpPr>
          <p:nvPr>
            <p:ph type="title"/>
          </p:nvPr>
        </p:nvSpPr>
        <p:spPr/>
        <p:txBody>
          <a:bodyPr/>
          <a:lstStyle/>
          <a:p>
            <a:r>
              <a:rPr lang="fr-FR" dirty="0"/>
              <a:t>Client serveur en java</a:t>
            </a:r>
          </a:p>
        </p:txBody>
      </p:sp>
      <p:sp>
        <p:nvSpPr>
          <p:cNvPr id="5" name="Espace réservé du contenu 4">
            <a:extLst>
              <a:ext uri="{FF2B5EF4-FFF2-40B4-BE49-F238E27FC236}">
                <a16:creationId xmlns:a16="http://schemas.microsoft.com/office/drawing/2014/main" id="{AA0FCF4F-5999-7A46-2229-C8FDFFCFAE1D}"/>
              </a:ext>
            </a:extLst>
          </p:cNvPr>
          <p:cNvSpPr>
            <a:spLocks noGrp="1"/>
          </p:cNvSpPr>
          <p:nvPr>
            <p:ph idx="1"/>
          </p:nvPr>
        </p:nvSpPr>
        <p:spPr/>
        <p:txBody>
          <a:bodyPr/>
          <a:lstStyle/>
          <a:p>
            <a:r>
              <a:rPr lang="fr-FR" dirty="0"/>
              <a:t>Servlet (</a:t>
            </a:r>
            <a:r>
              <a:rPr lang="fr-FR" dirty="0" err="1"/>
              <a:t>HttpServlet</a:t>
            </a:r>
            <a:r>
              <a:rPr lang="fr-FR" dirty="0"/>
              <a:t>)</a:t>
            </a:r>
          </a:p>
          <a:p>
            <a:endParaRPr lang="fr-FR" dirty="0"/>
          </a:p>
          <a:p>
            <a:r>
              <a:rPr lang="fr-FR" dirty="0"/>
              <a:t>Moteur de servlet</a:t>
            </a:r>
          </a:p>
          <a:p>
            <a:pPr lvl="1"/>
            <a:r>
              <a:rPr lang="fr-FR" dirty="0"/>
              <a:t>Tomcat</a:t>
            </a:r>
          </a:p>
          <a:p>
            <a:pPr lvl="1"/>
            <a:r>
              <a:rPr lang="fr-FR" dirty="0"/>
              <a:t>Jetty</a:t>
            </a:r>
          </a:p>
          <a:p>
            <a:pPr lvl="1"/>
            <a:endParaRPr lang="fr-FR" dirty="0"/>
          </a:p>
          <a:p>
            <a:pPr lvl="1"/>
            <a:r>
              <a:rPr lang="fr-FR" dirty="0"/>
              <a:t>JBoss</a:t>
            </a:r>
          </a:p>
          <a:p>
            <a:pPr lvl="1"/>
            <a:r>
              <a:rPr lang="fr-FR" dirty="0" err="1"/>
              <a:t>Glassfish</a:t>
            </a:r>
            <a:endParaRPr lang="fr-FR" dirty="0"/>
          </a:p>
          <a:p>
            <a:pPr lvl="1"/>
            <a:endParaRPr lang="fr-FR" dirty="0"/>
          </a:p>
          <a:p>
            <a:pPr lvl="1"/>
            <a:r>
              <a:rPr lang="fr-FR" dirty="0"/>
              <a:t>Oracle Application Server</a:t>
            </a:r>
          </a:p>
        </p:txBody>
      </p:sp>
      <p:pic>
        <p:nvPicPr>
          <p:cNvPr id="1025" name="Picture 1" descr="page6image40112400">
            <a:extLst>
              <a:ext uri="{FF2B5EF4-FFF2-40B4-BE49-F238E27FC236}">
                <a16:creationId xmlns:a16="http://schemas.microsoft.com/office/drawing/2014/main" id="{7D17C59D-381F-F04E-9159-3A411154CE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30400" cy="10287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6image40113024">
            <a:extLst>
              <a:ext uri="{FF2B5EF4-FFF2-40B4-BE49-F238E27FC236}">
                <a16:creationId xmlns:a16="http://schemas.microsoft.com/office/drawing/2014/main" id="{C1A23CD0-E2FD-F94B-8049-E632002AFC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46100" cy="10033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6image40113232">
            <a:extLst>
              <a:ext uri="{FF2B5EF4-FFF2-40B4-BE49-F238E27FC236}">
                <a16:creationId xmlns:a16="http://schemas.microsoft.com/office/drawing/2014/main" id="{BB6C2460-B987-3740-A756-6FCF3B3F06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61290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6image40110320">
            <a:extLst>
              <a:ext uri="{FF2B5EF4-FFF2-40B4-BE49-F238E27FC236}">
                <a16:creationId xmlns:a16="http://schemas.microsoft.com/office/drawing/2014/main" id="{9D96EBC5-2E36-7944-8115-A15AB60F26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673100" cy="10922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6image40110112">
            <a:extLst>
              <a:ext uri="{FF2B5EF4-FFF2-40B4-BE49-F238E27FC236}">
                <a16:creationId xmlns:a16="http://schemas.microsoft.com/office/drawing/2014/main" id="{E33D1A86-8A33-5343-BED7-48C138715F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017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6image40113440">
            <a:extLst>
              <a:ext uri="{FF2B5EF4-FFF2-40B4-BE49-F238E27FC236}">
                <a16:creationId xmlns:a16="http://schemas.microsoft.com/office/drawing/2014/main" id="{B5CF07DC-41C3-D647-B992-EFBA20B874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825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6image40114064">
            <a:extLst>
              <a:ext uri="{FF2B5EF4-FFF2-40B4-BE49-F238E27FC236}">
                <a16:creationId xmlns:a16="http://schemas.microsoft.com/office/drawing/2014/main" id="{9EFD3238-DD94-4840-BAB4-88E548D6229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4572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6image57182064">
            <a:extLst>
              <a:ext uri="{FF2B5EF4-FFF2-40B4-BE49-F238E27FC236}">
                <a16:creationId xmlns:a16="http://schemas.microsoft.com/office/drawing/2014/main" id="{91DEA2B8-8FD4-794E-9390-897B63B99F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444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age6image57180608">
            <a:extLst>
              <a:ext uri="{FF2B5EF4-FFF2-40B4-BE49-F238E27FC236}">
                <a16:creationId xmlns:a16="http://schemas.microsoft.com/office/drawing/2014/main" id="{8C1D0DB5-060C-6241-A160-237001A12BA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444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page6image40115104">
            <a:extLst>
              <a:ext uri="{FF2B5EF4-FFF2-40B4-BE49-F238E27FC236}">
                <a16:creationId xmlns:a16="http://schemas.microsoft.com/office/drawing/2014/main" id="{66623DD0-ED3D-8C48-9A3E-AA432D3101C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4318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age6image40115312">
            <a:extLst>
              <a:ext uri="{FF2B5EF4-FFF2-40B4-BE49-F238E27FC236}">
                <a16:creationId xmlns:a16="http://schemas.microsoft.com/office/drawing/2014/main" id="{F5ABAB19-E829-E84B-A384-08566D05130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4318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page6image40115520">
            <a:extLst>
              <a:ext uri="{FF2B5EF4-FFF2-40B4-BE49-F238E27FC236}">
                <a16:creationId xmlns:a16="http://schemas.microsoft.com/office/drawing/2014/main" id="{53CFCA3B-71AA-734F-8B3B-179495E47F4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4445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age6image40115728">
            <a:extLst>
              <a:ext uri="{FF2B5EF4-FFF2-40B4-BE49-F238E27FC236}">
                <a16:creationId xmlns:a16="http://schemas.microsoft.com/office/drawing/2014/main" id="{4FB68D1B-62E1-E94E-9024-9E5ACF4B469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444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age6image40115936">
            <a:extLst>
              <a:ext uri="{FF2B5EF4-FFF2-40B4-BE49-F238E27FC236}">
                <a16:creationId xmlns:a16="http://schemas.microsoft.com/office/drawing/2014/main" id="{5604F599-AC42-6442-9AD6-A162A57B101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968500" cy="4191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age6image40116144">
            <a:extLst>
              <a:ext uri="{FF2B5EF4-FFF2-40B4-BE49-F238E27FC236}">
                <a16:creationId xmlns:a16="http://schemas.microsoft.com/office/drawing/2014/main" id="{B83B9B0F-6645-664A-99C2-8A8B29C9A44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4953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page6image40113024">
            <a:extLst>
              <a:ext uri="{FF2B5EF4-FFF2-40B4-BE49-F238E27FC236}">
                <a16:creationId xmlns:a16="http://schemas.microsoft.com/office/drawing/2014/main" id="{DEC4E305-8E44-8849-B14B-4C63BA7A2B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46100" cy="10033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page6image40110320">
            <a:extLst>
              <a:ext uri="{FF2B5EF4-FFF2-40B4-BE49-F238E27FC236}">
                <a16:creationId xmlns:a16="http://schemas.microsoft.com/office/drawing/2014/main" id="{3AEF91CA-9A55-EF43-BA9C-EE1A9690C3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673100" cy="1092200"/>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descr="page6image40110112">
            <a:extLst>
              <a:ext uri="{FF2B5EF4-FFF2-40B4-BE49-F238E27FC236}">
                <a16:creationId xmlns:a16="http://schemas.microsoft.com/office/drawing/2014/main" id="{BA108F9F-9DB2-6B45-9F03-ED02F0CADB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017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page6image40113440">
            <a:extLst>
              <a:ext uri="{FF2B5EF4-FFF2-40B4-BE49-F238E27FC236}">
                <a16:creationId xmlns:a16="http://schemas.microsoft.com/office/drawing/2014/main" id="{4F548A65-BCCE-2943-AEEB-E906B69111C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8255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page6image40114064">
            <a:extLst>
              <a:ext uri="{FF2B5EF4-FFF2-40B4-BE49-F238E27FC236}">
                <a16:creationId xmlns:a16="http://schemas.microsoft.com/office/drawing/2014/main" id="{0ADA2D1E-61EE-6248-B498-9CA0B84FB5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4572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25" descr="page6image57182064">
            <a:extLst>
              <a:ext uri="{FF2B5EF4-FFF2-40B4-BE49-F238E27FC236}">
                <a16:creationId xmlns:a16="http://schemas.microsoft.com/office/drawing/2014/main" id="{5FF414F6-D139-4044-A289-8D9A7781F8B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444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page6image57180608">
            <a:extLst>
              <a:ext uri="{FF2B5EF4-FFF2-40B4-BE49-F238E27FC236}">
                <a16:creationId xmlns:a16="http://schemas.microsoft.com/office/drawing/2014/main" id="{C1BAB7DF-FE45-8943-A84F-DF93169F9A7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444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51" name="Picture 27" descr="page6image40115104">
            <a:extLst>
              <a:ext uri="{FF2B5EF4-FFF2-40B4-BE49-F238E27FC236}">
                <a16:creationId xmlns:a16="http://schemas.microsoft.com/office/drawing/2014/main" id="{39056B51-386B-AD4D-8603-6E007FFC2E8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4318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page6image40115312">
            <a:extLst>
              <a:ext uri="{FF2B5EF4-FFF2-40B4-BE49-F238E27FC236}">
                <a16:creationId xmlns:a16="http://schemas.microsoft.com/office/drawing/2014/main" id="{9AFE8BB6-ADD8-6A40-89A1-ED76DDD1060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4318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descr="page6image40115520">
            <a:extLst>
              <a:ext uri="{FF2B5EF4-FFF2-40B4-BE49-F238E27FC236}">
                <a16:creationId xmlns:a16="http://schemas.microsoft.com/office/drawing/2014/main" id="{5710C9EF-F385-0943-9DA0-87243038D9C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444500" cy="114300"/>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page6image40115728">
            <a:extLst>
              <a:ext uri="{FF2B5EF4-FFF2-40B4-BE49-F238E27FC236}">
                <a16:creationId xmlns:a16="http://schemas.microsoft.com/office/drawing/2014/main" id="{649F531F-CC05-5848-B30C-76D04D27601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444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descr="page6image40115936">
            <a:extLst>
              <a:ext uri="{FF2B5EF4-FFF2-40B4-BE49-F238E27FC236}">
                <a16:creationId xmlns:a16="http://schemas.microsoft.com/office/drawing/2014/main" id="{6A1B09BA-9E24-BF48-9995-AE441080DF8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968500" cy="419100"/>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descr="page6image40116144">
            <a:extLst>
              <a:ext uri="{FF2B5EF4-FFF2-40B4-BE49-F238E27FC236}">
                <a16:creationId xmlns:a16="http://schemas.microsoft.com/office/drawing/2014/main" id="{DE4E3E0A-B75E-AC42-B7EB-BA8E0AEECEBA}"/>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495300" cy="177800"/>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F191BC5D-D0FA-BCBA-D6EC-E05D6B8A86C2}"/>
              </a:ext>
            </a:extLst>
          </p:cNvPr>
          <p:cNvPicPr>
            <a:picLocks noChangeAspect="1"/>
          </p:cNvPicPr>
          <p:nvPr/>
        </p:nvPicPr>
        <p:blipFill>
          <a:blip r:embed="rId17"/>
          <a:stretch>
            <a:fillRect/>
          </a:stretch>
        </p:blipFill>
        <p:spPr>
          <a:xfrm>
            <a:off x="5255171" y="1825625"/>
            <a:ext cx="5609897" cy="3726688"/>
          </a:xfrm>
          <a:prstGeom prst="rect">
            <a:avLst/>
          </a:prstGeom>
        </p:spPr>
      </p:pic>
    </p:spTree>
    <p:extLst>
      <p:ext uri="{BB962C8B-B14F-4D97-AF65-F5344CB8AC3E}">
        <p14:creationId xmlns:p14="http://schemas.microsoft.com/office/powerpoint/2010/main" val="2155231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613DCE-F553-394D-7246-7E5472B58E16}"/>
              </a:ext>
            </a:extLst>
          </p:cNvPr>
          <p:cNvSpPr>
            <a:spLocks noGrp="1"/>
          </p:cNvSpPr>
          <p:nvPr>
            <p:ph type="title"/>
          </p:nvPr>
        </p:nvSpPr>
        <p:spPr/>
        <p:txBody>
          <a:bodyPr/>
          <a:lstStyle/>
          <a:p>
            <a:r>
              <a:rPr lang="fr-FR" dirty="0"/>
              <a:t>Client serveur </a:t>
            </a:r>
            <a:r>
              <a:rPr lang="fr-FR" dirty="0">
                <a:sym typeface="Wingdings" pitchFamily="2" charset="2"/>
              </a:rPr>
              <a:t></a:t>
            </a:r>
            <a:endParaRPr lang="fr-FR" dirty="0"/>
          </a:p>
        </p:txBody>
      </p:sp>
      <p:sp>
        <p:nvSpPr>
          <p:cNvPr id="3" name="Espace réservé du contenu 2">
            <a:extLst>
              <a:ext uri="{FF2B5EF4-FFF2-40B4-BE49-F238E27FC236}">
                <a16:creationId xmlns:a16="http://schemas.microsoft.com/office/drawing/2014/main" id="{A021EFED-A0FD-89B9-4087-4F57418C14FF}"/>
              </a:ext>
            </a:extLst>
          </p:cNvPr>
          <p:cNvSpPr>
            <a:spLocks noGrp="1"/>
          </p:cNvSpPr>
          <p:nvPr>
            <p:ph idx="1"/>
          </p:nvPr>
        </p:nvSpPr>
        <p:spPr/>
        <p:txBody>
          <a:bodyPr/>
          <a:lstStyle/>
          <a:p>
            <a:pPr marL="0" indent="0">
              <a:buNone/>
            </a:pPr>
            <a:r>
              <a:rPr lang="fr-FR" dirty="0"/>
              <a:t>Il faut : </a:t>
            </a:r>
          </a:p>
          <a:p>
            <a:r>
              <a:rPr lang="fr-FR" dirty="0"/>
              <a:t>connaître les bases du protocole HTTP</a:t>
            </a:r>
          </a:p>
          <a:p>
            <a:r>
              <a:rPr lang="fr-FR" dirty="0"/>
              <a:t>connaître les bases de HTML</a:t>
            </a:r>
          </a:p>
          <a:p>
            <a:r>
              <a:rPr lang="fr-FR" dirty="0"/>
              <a:t>savoir programmer objet (Java)</a:t>
            </a:r>
          </a:p>
          <a:p>
            <a:r>
              <a:rPr lang="fr-FR" dirty="0"/>
              <a:t>connaitre le SQL</a:t>
            </a:r>
          </a:p>
          <a:p>
            <a:r>
              <a:rPr lang="fr-FR" dirty="0"/>
              <a:t>avoir des bases en configuration de serveur web et de SGBD </a:t>
            </a:r>
          </a:p>
        </p:txBody>
      </p:sp>
    </p:spTree>
    <p:extLst>
      <p:ext uri="{BB962C8B-B14F-4D97-AF65-F5344CB8AC3E}">
        <p14:creationId xmlns:p14="http://schemas.microsoft.com/office/powerpoint/2010/main" val="106546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EE4EF7-B958-9741-8287-9E5CAC15C9C8}"/>
              </a:ext>
            </a:extLst>
          </p:cNvPr>
          <p:cNvSpPr>
            <a:spLocks noGrp="1"/>
          </p:cNvSpPr>
          <p:nvPr>
            <p:ph type="title"/>
          </p:nvPr>
        </p:nvSpPr>
        <p:spPr/>
        <p:txBody>
          <a:bodyPr/>
          <a:lstStyle/>
          <a:p>
            <a:r>
              <a:rPr lang="fr-FR" dirty="0"/>
              <a:t>Le protocole HTTP</a:t>
            </a:r>
          </a:p>
        </p:txBody>
      </p:sp>
      <p:sp>
        <p:nvSpPr>
          <p:cNvPr id="3" name="Espace réservé du contenu 2">
            <a:extLst>
              <a:ext uri="{FF2B5EF4-FFF2-40B4-BE49-F238E27FC236}">
                <a16:creationId xmlns:a16="http://schemas.microsoft.com/office/drawing/2014/main" id="{4154C1AE-FC2E-A148-A115-52BA361F0762}"/>
              </a:ext>
            </a:extLst>
          </p:cNvPr>
          <p:cNvSpPr>
            <a:spLocks noGrp="1"/>
          </p:cNvSpPr>
          <p:nvPr>
            <p:ph idx="1"/>
          </p:nvPr>
        </p:nvSpPr>
        <p:spPr/>
        <p:txBody>
          <a:bodyPr>
            <a:normAutofit lnSpcReduction="10000"/>
          </a:bodyPr>
          <a:lstStyle/>
          <a:p>
            <a:pPr marL="0" indent="0">
              <a:buNone/>
            </a:pPr>
            <a:r>
              <a:rPr lang="fr-FR" dirty="0" err="1"/>
              <a:t>Hypertext</a:t>
            </a:r>
            <a:r>
              <a:rPr lang="fr-FR" dirty="0"/>
              <a:t> Transfer Protocol :</a:t>
            </a:r>
          </a:p>
          <a:p>
            <a:r>
              <a:rPr lang="fr-FR" dirty="0"/>
              <a:t>Protocole de communication client-serveur</a:t>
            </a:r>
          </a:p>
          <a:p>
            <a:r>
              <a:rPr lang="fr-FR" dirty="0"/>
              <a:t>Over TCP port 80 ou 443 (HTTPS)</a:t>
            </a:r>
          </a:p>
          <a:p>
            <a:r>
              <a:rPr lang="fr-FR" dirty="0"/>
              <a:t>Pour la requête comme pour la réponse une entête (header) et un corps (body) optionnel.</a:t>
            </a:r>
          </a:p>
          <a:p>
            <a:r>
              <a:rPr lang="fr-FR" dirty="0"/>
              <a:t>Protocole sans état (</a:t>
            </a:r>
            <a:r>
              <a:rPr lang="fr-FR" dirty="0" err="1"/>
              <a:t>stateless</a:t>
            </a:r>
            <a:r>
              <a:rPr lang="fr-FR" dirty="0"/>
              <a:t> </a:t>
            </a:r>
            <a:r>
              <a:rPr lang="fr-FR" dirty="0" err="1"/>
              <a:t>protocol</a:t>
            </a:r>
            <a:r>
              <a:rPr lang="fr-FR" dirty="0"/>
              <a:t>) </a:t>
            </a:r>
          </a:p>
          <a:p>
            <a:r>
              <a:rPr lang="fr-FR" dirty="0"/>
              <a:t>Des méthodes GET, POST (PUT, DELETE, HEAD, OPTIONS, TRACE, …)</a:t>
            </a:r>
          </a:p>
          <a:p>
            <a:r>
              <a:rPr lang="fr-FR" dirty="0"/>
              <a:t>Un grand nombre de serveur : apache, </a:t>
            </a:r>
            <a:r>
              <a:rPr lang="fr-FR" dirty="0" err="1"/>
              <a:t>nginx</a:t>
            </a:r>
            <a:r>
              <a:rPr lang="fr-FR" dirty="0"/>
              <a:t>, </a:t>
            </a:r>
            <a:r>
              <a:rPr lang="fr-FR" dirty="0" err="1"/>
              <a:t>nodeJS</a:t>
            </a:r>
            <a:r>
              <a:rPr lang="fr-FR" dirty="0"/>
              <a:t>, …  </a:t>
            </a:r>
          </a:p>
          <a:p>
            <a:pPr marL="0" indent="0">
              <a:buNone/>
            </a:pPr>
            <a:r>
              <a:rPr lang="fr-FR" dirty="0"/>
              <a:t> </a:t>
            </a:r>
          </a:p>
          <a:p>
            <a:endParaRPr lang="fr-FR" dirty="0"/>
          </a:p>
          <a:p>
            <a:endParaRPr lang="fr-FR" dirty="0"/>
          </a:p>
        </p:txBody>
      </p:sp>
    </p:spTree>
    <p:extLst>
      <p:ext uri="{BB962C8B-B14F-4D97-AF65-F5344CB8AC3E}">
        <p14:creationId xmlns:p14="http://schemas.microsoft.com/office/powerpoint/2010/main" val="1052177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4799B3-4FEB-9D4C-A3D6-6DB394343C31}"/>
              </a:ext>
            </a:extLst>
          </p:cNvPr>
          <p:cNvSpPr>
            <a:spLocks noGrp="1"/>
          </p:cNvSpPr>
          <p:nvPr>
            <p:ph type="title"/>
          </p:nvPr>
        </p:nvSpPr>
        <p:spPr/>
        <p:txBody>
          <a:bodyPr/>
          <a:lstStyle/>
          <a:p>
            <a:r>
              <a:rPr lang="fr-FR" dirty="0"/>
              <a:t>Le protocole HTTP : GET</a:t>
            </a:r>
          </a:p>
        </p:txBody>
      </p:sp>
      <p:sp>
        <p:nvSpPr>
          <p:cNvPr id="4" name="Espace réservé du contenu 3">
            <a:extLst>
              <a:ext uri="{FF2B5EF4-FFF2-40B4-BE49-F238E27FC236}">
                <a16:creationId xmlns:a16="http://schemas.microsoft.com/office/drawing/2014/main" id="{8D4A4C93-F51E-BD4E-A714-BB85FE04FF65}"/>
              </a:ext>
            </a:extLst>
          </p:cNvPr>
          <p:cNvSpPr>
            <a:spLocks noGrp="1"/>
          </p:cNvSpPr>
          <p:nvPr>
            <p:ph sz="half" idx="1"/>
          </p:nvPr>
        </p:nvSpPr>
        <p:spPr/>
        <p:txBody>
          <a:bodyPr>
            <a:normAutofit fontScale="55000" lnSpcReduction="20000"/>
          </a:bodyPr>
          <a:lstStyle/>
          <a:p>
            <a:pPr marL="0" indent="0">
              <a:buNone/>
            </a:pPr>
            <a:r>
              <a:rPr lang="fr-FR" b="1" dirty="0"/>
              <a:t>Requête une entête sans corps</a:t>
            </a:r>
          </a:p>
          <a:p>
            <a:pPr marL="0" indent="0">
              <a:buNone/>
            </a:pPr>
            <a:endParaRPr lang="fr-FR" dirty="0"/>
          </a:p>
          <a:p>
            <a:pPr marL="0" indent="0">
              <a:buNone/>
            </a:pPr>
            <a:r>
              <a:rPr lang="fr-FR" dirty="0"/>
              <a:t>GET / HTTP/1.1</a:t>
            </a:r>
          </a:p>
          <a:p>
            <a:pPr marL="0" indent="0">
              <a:buNone/>
            </a:pPr>
            <a:r>
              <a:rPr lang="fr-FR" dirty="0"/>
              <a:t>Host: </a:t>
            </a:r>
            <a:r>
              <a:rPr lang="fr-FR" dirty="0" err="1"/>
              <a:t>perdu.com</a:t>
            </a:r>
            <a:endParaRPr lang="fr-FR" dirty="0"/>
          </a:p>
          <a:p>
            <a:pPr marL="0" indent="0">
              <a:buNone/>
            </a:pPr>
            <a:r>
              <a:rPr lang="fr-FR" dirty="0"/>
              <a:t>User-Agent: </a:t>
            </a:r>
            <a:r>
              <a:rPr lang="fr-FR" dirty="0" err="1"/>
              <a:t>curl</a:t>
            </a:r>
            <a:r>
              <a:rPr lang="fr-FR" dirty="0"/>
              <a:t>/7.79.1</a:t>
            </a:r>
          </a:p>
          <a:p>
            <a:pPr marL="0" indent="0">
              <a:buNone/>
            </a:pPr>
            <a:r>
              <a:rPr lang="fr-FR" dirty="0" err="1"/>
              <a:t>Accept</a:t>
            </a:r>
            <a:r>
              <a:rPr lang="fr-FR" dirty="0"/>
              <a:t>: */* </a:t>
            </a:r>
          </a:p>
          <a:p>
            <a:pPr marL="0" indent="0">
              <a:buNone/>
            </a:pPr>
            <a:endParaRPr lang="fr-FR" dirty="0"/>
          </a:p>
          <a:p>
            <a:pPr marL="0" indent="0">
              <a:buNone/>
            </a:pPr>
            <a:endParaRPr lang="fr-FR" dirty="0"/>
          </a:p>
        </p:txBody>
      </p:sp>
      <p:sp>
        <p:nvSpPr>
          <p:cNvPr id="5" name="Espace réservé du contenu 4">
            <a:extLst>
              <a:ext uri="{FF2B5EF4-FFF2-40B4-BE49-F238E27FC236}">
                <a16:creationId xmlns:a16="http://schemas.microsoft.com/office/drawing/2014/main" id="{CE0CAF02-F7FE-5C40-B23D-8D4EB1DF96E3}"/>
              </a:ext>
            </a:extLst>
          </p:cNvPr>
          <p:cNvSpPr>
            <a:spLocks noGrp="1"/>
          </p:cNvSpPr>
          <p:nvPr>
            <p:ph sz="half" idx="2"/>
          </p:nvPr>
        </p:nvSpPr>
        <p:spPr>
          <a:xfrm>
            <a:off x="3643312" y="1825625"/>
            <a:ext cx="3914776" cy="4351338"/>
          </a:xfrm>
        </p:spPr>
        <p:txBody>
          <a:bodyPr>
            <a:normAutofit fontScale="55000" lnSpcReduction="20000"/>
          </a:bodyPr>
          <a:lstStyle/>
          <a:p>
            <a:pPr marL="0" indent="0">
              <a:buNone/>
            </a:pPr>
            <a:r>
              <a:rPr lang="fr-FR" b="1" dirty="0"/>
              <a:t>Réponse  : entête </a:t>
            </a:r>
          </a:p>
          <a:p>
            <a:pPr marL="0" indent="0">
              <a:buNone/>
            </a:pPr>
            <a:r>
              <a:rPr lang="fr-FR" dirty="0"/>
              <a:t> HTTP/1.1 200 OK</a:t>
            </a:r>
          </a:p>
          <a:p>
            <a:pPr marL="0" indent="0">
              <a:buNone/>
            </a:pPr>
            <a:r>
              <a:rPr lang="fr-FR" dirty="0"/>
              <a:t>Date: Tue, 06 Sep 2022 19:39:17 GMT</a:t>
            </a:r>
          </a:p>
          <a:p>
            <a:pPr marL="0" indent="0">
              <a:buNone/>
            </a:pPr>
            <a:r>
              <a:rPr lang="fr-FR" dirty="0"/>
              <a:t> Server: Apache</a:t>
            </a:r>
          </a:p>
          <a:p>
            <a:pPr marL="0" indent="0">
              <a:buNone/>
            </a:pPr>
            <a:r>
              <a:rPr lang="fr-FR" dirty="0"/>
              <a:t>Upgrade: h2</a:t>
            </a:r>
          </a:p>
          <a:p>
            <a:pPr marL="0" indent="0">
              <a:buNone/>
            </a:pPr>
            <a:r>
              <a:rPr lang="fr-FR" dirty="0"/>
              <a:t>Connection: Upgrade</a:t>
            </a:r>
          </a:p>
          <a:p>
            <a:pPr marL="0" indent="0">
              <a:buNone/>
            </a:pPr>
            <a:r>
              <a:rPr lang="fr-FR" dirty="0"/>
              <a:t>Last-</a:t>
            </a:r>
            <a:r>
              <a:rPr lang="fr-FR" dirty="0" err="1"/>
              <a:t>Modified</a:t>
            </a:r>
            <a:r>
              <a:rPr lang="fr-FR" dirty="0"/>
              <a:t>: Thu, 02 Jun 2016 06:01:08 GMT</a:t>
            </a:r>
          </a:p>
          <a:p>
            <a:pPr marL="0" indent="0">
              <a:buNone/>
            </a:pPr>
            <a:r>
              <a:rPr lang="fr-FR" dirty="0" err="1"/>
              <a:t>ETag</a:t>
            </a:r>
            <a:r>
              <a:rPr lang="fr-FR" dirty="0"/>
              <a:t>: "cc-5344555136fe9"</a:t>
            </a:r>
          </a:p>
          <a:p>
            <a:pPr marL="0" indent="0">
              <a:buNone/>
            </a:pPr>
            <a:r>
              <a:rPr lang="fr-FR" dirty="0" err="1"/>
              <a:t>Accept</a:t>
            </a:r>
            <a:r>
              <a:rPr lang="fr-FR" dirty="0"/>
              <a:t>-Ranges: bytes</a:t>
            </a:r>
          </a:p>
          <a:p>
            <a:pPr marL="0" indent="0">
              <a:buNone/>
            </a:pPr>
            <a:r>
              <a:rPr lang="fr-FR" dirty="0"/>
              <a:t>Content-</a:t>
            </a:r>
            <a:r>
              <a:rPr lang="fr-FR" dirty="0" err="1"/>
              <a:t>Length</a:t>
            </a:r>
            <a:r>
              <a:rPr lang="fr-FR" dirty="0"/>
              <a:t>: 204</a:t>
            </a:r>
          </a:p>
          <a:p>
            <a:pPr marL="0" indent="0">
              <a:buNone/>
            </a:pPr>
            <a:r>
              <a:rPr lang="fr-FR" dirty="0"/>
              <a:t>Cache-Control: max-</a:t>
            </a:r>
            <a:r>
              <a:rPr lang="fr-FR" dirty="0" err="1"/>
              <a:t>age</a:t>
            </a:r>
            <a:r>
              <a:rPr lang="fr-FR" dirty="0"/>
              <a:t>=600</a:t>
            </a:r>
          </a:p>
          <a:p>
            <a:pPr marL="0" indent="0">
              <a:buNone/>
            </a:pPr>
            <a:r>
              <a:rPr lang="fr-FR" dirty="0"/>
              <a:t>Expires: Tue, 06 Sep 2022 19:49:17 GMT</a:t>
            </a:r>
          </a:p>
          <a:p>
            <a:pPr marL="0" indent="0">
              <a:buNone/>
            </a:pPr>
            <a:r>
              <a:rPr lang="fr-FR" dirty="0" err="1"/>
              <a:t>Vary</a:t>
            </a:r>
            <a:r>
              <a:rPr lang="fr-FR" dirty="0"/>
              <a:t>: </a:t>
            </a:r>
            <a:r>
              <a:rPr lang="fr-FR" dirty="0" err="1"/>
              <a:t>Accept</a:t>
            </a:r>
            <a:r>
              <a:rPr lang="fr-FR" dirty="0"/>
              <a:t>-</a:t>
            </a:r>
            <a:r>
              <a:rPr lang="fr-FR" dirty="0" err="1"/>
              <a:t>Encoding,User</a:t>
            </a:r>
            <a:r>
              <a:rPr lang="fr-FR" dirty="0"/>
              <a:t>-Agent</a:t>
            </a:r>
          </a:p>
          <a:p>
            <a:pPr marL="0" indent="0">
              <a:buNone/>
            </a:pPr>
            <a:r>
              <a:rPr lang="fr-FR" dirty="0"/>
              <a:t> Content-Type: </a:t>
            </a:r>
            <a:r>
              <a:rPr lang="fr-FR" dirty="0" err="1"/>
              <a:t>text</a:t>
            </a:r>
            <a:r>
              <a:rPr lang="fr-FR" dirty="0"/>
              <a:t>/html</a:t>
            </a:r>
          </a:p>
          <a:p>
            <a:pPr marL="0" indent="0">
              <a:buNone/>
            </a:pPr>
            <a:endParaRPr lang="fr-FR" dirty="0"/>
          </a:p>
        </p:txBody>
      </p:sp>
      <p:sp>
        <p:nvSpPr>
          <p:cNvPr id="6" name="Espace réservé du contenu 4">
            <a:extLst>
              <a:ext uri="{FF2B5EF4-FFF2-40B4-BE49-F238E27FC236}">
                <a16:creationId xmlns:a16="http://schemas.microsoft.com/office/drawing/2014/main" id="{9F7899A1-7107-994F-966C-11079C9F630C}"/>
              </a:ext>
            </a:extLst>
          </p:cNvPr>
          <p:cNvSpPr txBox="1">
            <a:spLocks/>
          </p:cNvSpPr>
          <p:nvPr/>
        </p:nvSpPr>
        <p:spPr>
          <a:xfrm>
            <a:off x="7558088" y="1825625"/>
            <a:ext cx="4200525"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b="1" dirty="0"/>
              <a:t>Réponse  : corps</a:t>
            </a:r>
          </a:p>
          <a:p>
            <a:pPr marL="0" indent="0">
              <a:buFont typeface="Arial" panose="020B0604020202020204" pitchFamily="34" charset="0"/>
              <a:buNone/>
            </a:pPr>
            <a:r>
              <a:rPr lang="fr-FR" dirty="0"/>
              <a:t> </a:t>
            </a:r>
          </a:p>
          <a:p>
            <a:pPr marL="0" indent="0">
              <a:buFont typeface="Arial" panose="020B0604020202020204" pitchFamily="34" charset="0"/>
              <a:buNone/>
            </a:pPr>
            <a:r>
              <a:rPr lang="fr-FR" dirty="0"/>
              <a:t>&lt;html&gt;</a:t>
            </a:r>
          </a:p>
          <a:p>
            <a:pPr marL="0" indent="0">
              <a:buFont typeface="Arial" panose="020B0604020202020204" pitchFamily="34" charset="0"/>
              <a:buNone/>
            </a:pPr>
            <a:r>
              <a:rPr lang="fr-FR" dirty="0"/>
              <a:t>&lt;</a:t>
            </a:r>
            <a:r>
              <a:rPr lang="fr-FR" dirty="0" err="1"/>
              <a:t>head</a:t>
            </a:r>
            <a:r>
              <a:rPr lang="fr-FR" dirty="0"/>
              <a:t>&gt;</a:t>
            </a:r>
          </a:p>
          <a:p>
            <a:pPr marL="0" indent="0">
              <a:buFont typeface="Arial" panose="020B0604020202020204" pitchFamily="34" charset="0"/>
              <a:buNone/>
            </a:pPr>
            <a:r>
              <a:rPr lang="fr-FR" dirty="0"/>
              <a:t>&lt;</a:t>
            </a:r>
            <a:r>
              <a:rPr lang="fr-FR" dirty="0" err="1"/>
              <a:t>title</a:t>
            </a:r>
            <a:r>
              <a:rPr lang="fr-FR" dirty="0"/>
              <a:t>&gt;Vous Etes Perdu ?</a:t>
            </a:r>
          </a:p>
          <a:p>
            <a:pPr marL="0" indent="0">
              <a:buFont typeface="Arial" panose="020B0604020202020204" pitchFamily="34" charset="0"/>
              <a:buNone/>
            </a:pPr>
            <a:r>
              <a:rPr lang="fr-FR" dirty="0"/>
              <a:t>&lt;/</a:t>
            </a:r>
            <a:r>
              <a:rPr lang="fr-FR" dirty="0" err="1"/>
              <a:t>title</a:t>
            </a:r>
            <a:r>
              <a:rPr lang="fr-FR" dirty="0"/>
              <a:t>&gt;</a:t>
            </a:r>
          </a:p>
          <a:p>
            <a:pPr marL="0" indent="0">
              <a:buFont typeface="Arial" panose="020B0604020202020204" pitchFamily="34" charset="0"/>
              <a:buNone/>
            </a:pPr>
            <a:r>
              <a:rPr lang="fr-FR" dirty="0"/>
              <a:t>&lt;/</a:t>
            </a:r>
            <a:r>
              <a:rPr lang="fr-FR" dirty="0" err="1"/>
              <a:t>head</a:t>
            </a:r>
            <a:r>
              <a:rPr lang="fr-FR" dirty="0"/>
              <a:t>&gt;</a:t>
            </a:r>
          </a:p>
          <a:p>
            <a:pPr marL="0" indent="0">
              <a:buFont typeface="Arial" panose="020B0604020202020204" pitchFamily="34" charset="0"/>
              <a:buNone/>
            </a:pPr>
            <a:r>
              <a:rPr lang="fr-FR" dirty="0"/>
              <a:t>&lt;body&gt;</a:t>
            </a:r>
          </a:p>
          <a:p>
            <a:pPr marL="0" indent="0">
              <a:buFont typeface="Arial" panose="020B0604020202020204" pitchFamily="34" charset="0"/>
              <a:buNone/>
            </a:pPr>
            <a:r>
              <a:rPr lang="fr-FR" dirty="0"/>
              <a:t>&lt;h1&gt;Perdu sur l'Internet ?</a:t>
            </a:r>
          </a:p>
          <a:p>
            <a:pPr marL="0" indent="0">
              <a:buFont typeface="Arial" panose="020B0604020202020204" pitchFamily="34" charset="0"/>
              <a:buNone/>
            </a:pPr>
            <a:r>
              <a:rPr lang="fr-FR" dirty="0"/>
              <a:t>&lt;/h1&gt;</a:t>
            </a:r>
          </a:p>
          <a:p>
            <a:pPr marL="0" indent="0">
              <a:buFont typeface="Arial" panose="020B0604020202020204" pitchFamily="34" charset="0"/>
              <a:buNone/>
            </a:pPr>
            <a:r>
              <a:rPr lang="fr-FR" dirty="0"/>
              <a:t>&lt;h2&gt;Pas de panique, on va vous aider</a:t>
            </a:r>
          </a:p>
          <a:p>
            <a:pPr marL="0" indent="0">
              <a:buFont typeface="Arial" panose="020B0604020202020204" pitchFamily="34" charset="0"/>
              <a:buNone/>
            </a:pPr>
            <a:r>
              <a:rPr lang="fr-FR" dirty="0"/>
              <a:t>&lt;/h2&gt;&lt;</a:t>
            </a:r>
            <a:r>
              <a:rPr lang="fr-FR" dirty="0" err="1"/>
              <a:t>strong</a:t>
            </a:r>
            <a:r>
              <a:rPr lang="fr-FR" dirty="0"/>
              <a:t>&gt;&lt;</a:t>
            </a:r>
            <a:r>
              <a:rPr lang="fr-FR" dirty="0" err="1"/>
              <a:t>pre</a:t>
            </a:r>
            <a:r>
              <a:rPr lang="fr-FR" dirty="0"/>
              <a:t>&gt;    * &lt;----- vous &amp;</a:t>
            </a:r>
            <a:r>
              <a:rPr lang="fr-FR" dirty="0" err="1"/>
              <a:t>ecirc;tes</a:t>
            </a:r>
            <a:r>
              <a:rPr lang="fr-FR" dirty="0"/>
              <a:t> ici&lt;/</a:t>
            </a:r>
            <a:r>
              <a:rPr lang="fr-FR" dirty="0" err="1"/>
              <a:t>pre</a:t>
            </a:r>
            <a:r>
              <a:rPr lang="fr-FR" dirty="0"/>
              <a:t>&gt;&lt;/</a:t>
            </a:r>
            <a:r>
              <a:rPr lang="fr-FR" dirty="0" err="1"/>
              <a:t>strong</a:t>
            </a:r>
            <a:r>
              <a:rPr lang="fr-FR" dirty="0"/>
              <a:t>&gt;</a:t>
            </a:r>
          </a:p>
          <a:p>
            <a:pPr marL="0" indent="0">
              <a:buFont typeface="Arial" panose="020B0604020202020204" pitchFamily="34" charset="0"/>
              <a:buNone/>
            </a:pPr>
            <a:r>
              <a:rPr lang="fr-FR" dirty="0"/>
              <a:t>&lt;/body&gt;</a:t>
            </a:r>
          </a:p>
          <a:p>
            <a:pPr marL="0" indent="0">
              <a:buFont typeface="Arial" panose="020B0604020202020204" pitchFamily="34" charset="0"/>
              <a:buNone/>
            </a:pPr>
            <a:r>
              <a:rPr lang="fr-FR" dirty="0"/>
              <a:t>&lt;/html&gt;</a:t>
            </a:r>
          </a:p>
          <a:p>
            <a:pPr marL="0" indent="0">
              <a:buFont typeface="Arial" panose="020B0604020202020204" pitchFamily="34" charset="0"/>
              <a:buNone/>
            </a:pPr>
            <a:endParaRPr lang="fr-FR" dirty="0"/>
          </a:p>
        </p:txBody>
      </p:sp>
    </p:spTree>
    <p:extLst>
      <p:ext uri="{BB962C8B-B14F-4D97-AF65-F5344CB8AC3E}">
        <p14:creationId xmlns:p14="http://schemas.microsoft.com/office/powerpoint/2010/main" val="3672162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4799B3-4FEB-9D4C-A3D6-6DB394343C31}"/>
              </a:ext>
            </a:extLst>
          </p:cNvPr>
          <p:cNvSpPr>
            <a:spLocks noGrp="1"/>
          </p:cNvSpPr>
          <p:nvPr>
            <p:ph type="title"/>
          </p:nvPr>
        </p:nvSpPr>
        <p:spPr/>
        <p:txBody>
          <a:bodyPr/>
          <a:lstStyle/>
          <a:p>
            <a:r>
              <a:rPr lang="fr-FR" dirty="0"/>
              <a:t>Le protocole HTTP : GET avec paramètres</a:t>
            </a:r>
          </a:p>
        </p:txBody>
      </p:sp>
      <p:sp>
        <p:nvSpPr>
          <p:cNvPr id="10" name="Espace réservé du contenu 9">
            <a:extLst>
              <a:ext uri="{FF2B5EF4-FFF2-40B4-BE49-F238E27FC236}">
                <a16:creationId xmlns:a16="http://schemas.microsoft.com/office/drawing/2014/main" id="{F0DDDC7C-8C50-6F40-849C-02BF86898AE6}"/>
              </a:ext>
            </a:extLst>
          </p:cNvPr>
          <p:cNvSpPr>
            <a:spLocks noGrp="1"/>
          </p:cNvSpPr>
          <p:nvPr>
            <p:ph idx="1"/>
          </p:nvPr>
        </p:nvSpPr>
        <p:spPr/>
        <p:txBody>
          <a:bodyPr/>
          <a:lstStyle/>
          <a:p>
            <a:pPr marL="0" indent="0">
              <a:buNone/>
            </a:pPr>
            <a:r>
              <a:rPr lang="fr-FR" dirty="0"/>
              <a:t>Dans l’entête sous la forme</a:t>
            </a:r>
          </a:p>
          <a:p>
            <a:pPr marL="0" indent="0">
              <a:buNone/>
            </a:pPr>
            <a:r>
              <a:rPr lang="fr-FR" dirty="0"/>
              <a:t>  ressource?param1=val1&amp;param2=val2</a:t>
            </a:r>
          </a:p>
          <a:p>
            <a:pPr marL="0" indent="0">
              <a:buNone/>
            </a:pPr>
            <a:endParaRPr lang="fr-FR" dirty="0"/>
          </a:p>
          <a:p>
            <a:pPr marL="0" indent="0">
              <a:buNone/>
            </a:pPr>
            <a:r>
              <a:rPr lang="fr-FR" dirty="0"/>
              <a:t>http://</a:t>
            </a:r>
            <a:r>
              <a:rPr lang="fr-FR" dirty="0" err="1"/>
              <a:t>localhost</a:t>
            </a:r>
            <a:r>
              <a:rPr lang="fr-FR" dirty="0"/>
              <a:t>/~</a:t>
            </a:r>
            <a:r>
              <a:rPr lang="fr-FR" dirty="0" err="1"/>
              <a:t>jub</a:t>
            </a:r>
            <a:r>
              <a:rPr lang="fr-FR" dirty="0"/>
              <a:t>/</a:t>
            </a:r>
            <a:r>
              <a:rPr lang="fr-FR" dirty="0" err="1"/>
              <a:t>php</a:t>
            </a:r>
            <a:r>
              <a:rPr lang="fr-FR" dirty="0"/>
              <a:t>/td1/</a:t>
            </a:r>
            <a:r>
              <a:rPr lang="fr-FR" dirty="0" err="1"/>
              <a:t>get_post.php?age</a:t>
            </a:r>
            <a:r>
              <a:rPr lang="fr-FR" dirty="0"/>
              <a:t>=18&amp;nom=le%20coq&amp;pr%C3%A9nom=</a:t>
            </a:r>
            <a:r>
              <a:rPr lang="fr-FR" dirty="0" err="1"/>
              <a:t>correntin</a:t>
            </a:r>
            <a:endParaRPr lang="fr-FR" dirty="0"/>
          </a:p>
        </p:txBody>
      </p:sp>
    </p:spTree>
    <p:extLst>
      <p:ext uri="{BB962C8B-B14F-4D97-AF65-F5344CB8AC3E}">
        <p14:creationId xmlns:p14="http://schemas.microsoft.com/office/powerpoint/2010/main" val="599447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1E106C-1DD1-9E42-8851-FF0579E8CE32}"/>
              </a:ext>
            </a:extLst>
          </p:cNvPr>
          <p:cNvSpPr>
            <a:spLocks noGrp="1"/>
          </p:cNvSpPr>
          <p:nvPr>
            <p:ph type="title"/>
          </p:nvPr>
        </p:nvSpPr>
        <p:spPr/>
        <p:txBody>
          <a:bodyPr/>
          <a:lstStyle/>
          <a:p>
            <a:r>
              <a:rPr lang="fr-FR" dirty="0"/>
              <a:t>Le protocole HTTP : POST</a:t>
            </a:r>
          </a:p>
        </p:txBody>
      </p:sp>
      <p:sp>
        <p:nvSpPr>
          <p:cNvPr id="3" name="Espace réservé du contenu 2">
            <a:extLst>
              <a:ext uri="{FF2B5EF4-FFF2-40B4-BE49-F238E27FC236}">
                <a16:creationId xmlns:a16="http://schemas.microsoft.com/office/drawing/2014/main" id="{244171D6-EA64-3841-ADB7-7B735362E231}"/>
              </a:ext>
            </a:extLst>
          </p:cNvPr>
          <p:cNvSpPr>
            <a:spLocks noGrp="1"/>
          </p:cNvSpPr>
          <p:nvPr>
            <p:ph sz="half" idx="1"/>
          </p:nvPr>
        </p:nvSpPr>
        <p:spPr>
          <a:xfrm>
            <a:off x="838200" y="1825625"/>
            <a:ext cx="10515600" cy="746125"/>
          </a:xfrm>
        </p:spPr>
        <p:txBody>
          <a:bodyPr>
            <a:normAutofit fontScale="70000" lnSpcReduction="20000"/>
          </a:bodyPr>
          <a:lstStyle/>
          <a:p>
            <a:pPr marL="0" indent="0">
              <a:buNone/>
            </a:pPr>
            <a:r>
              <a:rPr lang="fr-FR" dirty="0" err="1"/>
              <a:t>curl</a:t>
            </a:r>
            <a:r>
              <a:rPr lang="fr-FR" dirty="0"/>
              <a:t> -d "param1=value1&amp;param2=value2" -H "Content-Type: application/x-www-</a:t>
            </a:r>
            <a:r>
              <a:rPr lang="fr-FR" dirty="0" err="1"/>
              <a:t>form</a:t>
            </a:r>
            <a:r>
              <a:rPr lang="fr-FR" dirty="0"/>
              <a:t>-</a:t>
            </a:r>
            <a:r>
              <a:rPr lang="fr-FR" dirty="0" err="1"/>
              <a:t>urlencoded</a:t>
            </a:r>
            <a:r>
              <a:rPr lang="fr-FR" dirty="0"/>
              <a:t>" -X POST "http://</a:t>
            </a:r>
            <a:r>
              <a:rPr lang="fr-FR" dirty="0" err="1"/>
              <a:t>localhost</a:t>
            </a:r>
            <a:r>
              <a:rPr lang="fr-FR" dirty="0"/>
              <a:t>/~</a:t>
            </a:r>
            <a:r>
              <a:rPr lang="fr-FR" dirty="0" err="1"/>
              <a:t>jub</a:t>
            </a:r>
            <a:r>
              <a:rPr lang="fr-FR" dirty="0"/>
              <a:t>/</a:t>
            </a:r>
            <a:r>
              <a:rPr lang="fr-FR" dirty="0" err="1"/>
              <a:t>php</a:t>
            </a:r>
            <a:r>
              <a:rPr lang="fr-FR" dirty="0"/>
              <a:t>/td1/</a:t>
            </a:r>
            <a:r>
              <a:rPr lang="fr-FR" dirty="0" err="1"/>
              <a:t>get_post.php</a:t>
            </a:r>
            <a:r>
              <a:rPr lang="fr-FR" dirty="0"/>
              <a:t>"</a:t>
            </a:r>
          </a:p>
          <a:p>
            <a:pPr marL="0" indent="0">
              <a:buNone/>
            </a:pPr>
            <a:endParaRPr lang="fr-FR" dirty="0"/>
          </a:p>
          <a:p>
            <a:pPr marL="0" indent="0">
              <a:buNone/>
            </a:pPr>
            <a:endParaRPr lang="fr-FR" dirty="0"/>
          </a:p>
        </p:txBody>
      </p:sp>
      <p:sp>
        <p:nvSpPr>
          <p:cNvPr id="4" name="Espace réservé du contenu 3">
            <a:extLst>
              <a:ext uri="{FF2B5EF4-FFF2-40B4-BE49-F238E27FC236}">
                <a16:creationId xmlns:a16="http://schemas.microsoft.com/office/drawing/2014/main" id="{C1F8979A-3FB5-6D44-AB30-10EAB82EC54E}"/>
              </a:ext>
            </a:extLst>
          </p:cNvPr>
          <p:cNvSpPr>
            <a:spLocks noGrp="1"/>
          </p:cNvSpPr>
          <p:nvPr>
            <p:ph sz="half" idx="2"/>
          </p:nvPr>
        </p:nvSpPr>
        <p:spPr>
          <a:xfrm>
            <a:off x="838200" y="2863850"/>
            <a:ext cx="5181600" cy="3470276"/>
          </a:xfrm>
        </p:spPr>
        <p:txBody>
          <a:bodyPr>
            <a:normAutofit fontScale="70000" lnSpcReduction="20000"/>
          </a:bodyPr>
          <a:lstStyle/>
          <a:p>
            <a:pPr marL="0" indent="0">
              <a:buNone/>
            </a:pPr>
            <a:r>
              <a:rPr lang="fr-FR" dirty="0"/>
              <a:t>Requête</a:t>
            </a:r>
          </a:p>
          <a:p>
            <a:pPr marL="0" indent="0">
              <a:buNone/>
            </a:pPr>
            <a:r>
              <a:rPr lang="fr-FR" b="1" dirty="0"/>
              <a:t>POST /~</a:t>
            </a:r>
            <a:r>
              <a:rPr lang="fr-FR" b="1" dirty="0" err="1"/>
              <a:t>jub</a:t>
            </a:r>
            <a:r>
              <a:rPr lang="fr-FR" b="1" dirty="0"/>
              <a:t>/</a:t>
            </a:r>
            <a:r>
              <a:rPr lang="fr-FR" b="1" dirty="0" err="1"/>
              <a:t>php</a:t>
            </a:r>
            <a:r>
              <a:rPr lang="fr-FR" b="1" dirty="0"/>
              <a:t>/td1/</a:t>
            </a:r>
            <a:r>
              <a:rPr lang="fr-FR" b="1" dirty="0" err="1"/>
              <a:t>get_post.php</a:t>
            </a:r>
            <a:r>
              <a:rPr lang="fr-FR" b="1" dirty="0"/>
              <a:t> </a:t>
            </a:r>
            <a:r>
              <a:rPr lang="fr-FR" dirty="0"/>
              <a:t>HTTP/1.1</a:t>
            </a:r>
          </a:p>
          <a:p>
            <a:pPr marL="0" indent="0">
              <a:buNone/>
            </a:pPr>
            <a:r>
              <a:rPr lang="fr-FR" dirty="0"/>
              <a:t>Host: </a:t>
            </a:r>
            <a:r>
              <a:rPr lang="fr-FR" dirty="0" err="1"/>
              <a:t>localhost</a:t>
            </a:r>
            <a:endParaRPr lang="fr-FR" dirty="0"/>
          </a:p>
          <a:p>
            <a:pPr marL="0" indent="0">
              <a:buNone/>
            </a:pPr>
            <a:r>
              <a:rPr lang="fr-FR" dirty="0"/>
              <a:t>User-Agent: </a:t>
            </a:r>
            <a:r>
              <a:rPr lang="fr-FR" dirty="0" err="1"/>
              <a:t>curl</a:t>
            </a:r>
            <a:r>
              <a:rPr lang="fr-FR" dirty="0"/>
              <a:t>/7.79.1</a:t>
            </a:r>
          </a:p>
          <a:p>
            <a:pPr marL="0" indent="0">
              <a:buNone/>
            </a:pPr>
            <a:r>
              <a:rPr lang="fr-FR" dirty="0" err="1"/>
              <a:t>Accept</a:t>
            </a:r>
            <a:r>
              <a:rPr lang="fr-FR" dirty="0"/>
              <a:t>: */*</a:t>
            </a:r>
          </a:p>
          <a:p>
            <a:pPr marL="0" indent="0">
              <a:buNone/>
            </a:pPr>
            <a:r>
              <a:rPr lang="fr-FR" dirty="0"/>
              <a:t>Content-Type: application/x-www-</a:t>
            </a:r>
            <a:r>
              <a:rPr lang="fr-FR" dirty="0" err="1"/>
              <a:t>form</a:t>
            </a:r>
            <a:r>
              <a:rPr lang="fr-FR" dirty="0"/>
              <a:t>-</a:t>
            </a:r>
            <a:r>
              <a:rPr lang="fr-FR" dirty="0" err="1"/>
              <a:t>urlencoded</a:t>
            </a:r>
            <a:endParaRPr lang="fr-FR" dirty="0"/>
          </a:p>
          <a:p>
            <a:pPr marL="0" indent="0">
              <a:buNone/>
            </a:pPr>
            <a:r>
              <a:rPr lang="fr-FR" dirty="0"/>
              <a:t>Content-</a:t>
            </a:r>
            <a:r>
              <a:rPr lang="fr-FR" dirty="0" err="1"/>
              <a:t>Length</a:t>
            </a:r>
            <a:r>
              <a:rPr lang="fr-FR" dirty="0"/>
              <a:t>: 27</a:t>
            </a:r>
          </a:p>
          <a:p>
            <a:pPr marL="0" indent="0">
              <a:buNone/>
            </a:pPr>
            <a:endParaRPr lang="fr-FR" dirty="0"/>
          </a:p>
          <a:p>
            <a:pPr marL="0" indent="0">
              <a:buNone/>
            </a:pPr>
            <a:r>
              <a:rPr lang="fr-FR" b="1" dirty="0"/>
              <a:t>param1=value1&amp;param2=value2 </a:t>
            </a:r>
            <a:r>
              <a:rPr lang="fr-FR" i="1" dirty="0"/>
              <a:t>(non affiché sur la version de l’IUT)</a:t>
            </a:r>
          </a:p>
          <a:p>
            <a:pPr marL="0" indent="0">
              <a:buNone/>
            </a:pPr>
            <a:endParaRPr lang="fr-FR" dirty="0"/>
          </a:p>
        </p:txBody>
      </p:sp>
      <p:sp>
        <p:nvSpPr>
          <p:cNvPr id="6" name="Espace réservé du contenu 3">
            <a:extLst>
              <a:ext uri="{FF2B5EF4-FFF2-40B4-BE49-F238E27FC236}">
                <a16:creationId xmlns:a16="http://schemas.microsoft.com/office/drawing/2014/main" id="{7E6BBA9F-D876-1C40-AB88-3993064DCC64}"/>
              </a:ext>
            </a:extLst>
          </p:cNvPr>
          <p:cNvSpPr txBox="1">
            <a:spLocks/>
          </p:cNvSpPr>
          <p:nvPr/>
        </p:nvSpPr>
        <p:spPr>
          <a:xfrm>
            <a:off x="5701145" y="2863850"/>
            <a:ext cx="5174673" cy="347027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Réponse</a:t>
            </a:r>
          </a:p>
          <a:p>
            <a:pPr marL="0" indent="0">
              <a:buNone/>
            </a:pPr>
            <a:r>
              <a:rPr lang="fr-FR" dirty="0"/>
              <a:t>HTTP/1.1 200 OK</a:t>
            </a:r>
          </a:p>
          <a:p>
            <a:pPr marL="0" indent="0">
              <a:buNone/>
            </a:pPr>
            <a:r>
              <a:rPr lang="fr-FR" dirty="0"/>
              <a:t>Date: Tue, 06 Sep 2022 20:53:48 GMT</a:t>
            </a:r>
          </a:p>
          <a:p>
            <a:pPr marL="0" indent="0">
              <a:buNone/>
            </a:pPr>
            <a:r>
              <a:rPr lang="fr-FR" dirty="0"/>
              <a:t>Server: Apache/2.4.54 (Unix) PHP/8.1.8</a:t>
            </a:r>
          </a:p>
          <a:p>
            <a:pPr marL="0" indent="0">
              <a:buNone/>
            </a:pPr>
            <a:r>
              <a:rPr lang="fr-FR" dirty="0"/>
              <a:t>X-</a:t>
            </a:r>
            <a:r>
              <a:rPr lang="fr-FR" dirty="0" err="1"/>
              <a:t>Powered</a:t>
            </a:r>
            <a:r>
              <a:rPr lang="fr-FR" dirty="0"/>
              <a:t>-By: PHP/8.1.8</a:t>
            </a:r>
          </a:p>
          <a:p>
            <a:pPr marL="0" indent="0">
              <a:buNone/>
            </a:pPr>
            <a:r>
              <a:rPr lang="fr-FR" dirty="0"/>
              <a:t>Content-</a:t>
            </a:r>
            <a:r>
              <a:rPr lang="fr-FR" dirty="0" err="1"/>
              <a:t>Length</a:t>
            </a:r>
            <a:r>
              <a:rPr lang="fr-FR" dirty="0"/>
              <a:t>: 180</a:t>
            </a:r>
          </a:p>
          <a:p>
            <a:pPr marL="0" indent="0">
              <a:buNone/>
            </a:pPr>
            <a:r>
              <a:rPr lang="fr-FR" dirty="0"/>
              <a:t>Content-Type: </a:t>
            </a:r>
            <a:r>
              <a:rPr lang="fr-FR" dirty="0" err="1"/>
              <a:t>text</a:t>
            </a:r>
            <a:r>
              <a:rPr lang="fr-FR" dirty="0"/>
              <a:t>/html; </a:t>
            </a:r>
            <a:r>
              <a:rPr lang="fr-FR" dirty="0" err="1"/>
              <a:t>charset</a:t>
            </a:r>
            <a:r>
              <a:rPr lang="fr-FR" dirty="0"/>
              <a:t>=UTF-8</a:t>
            </a:r>
          </a:p>
          <a:p>
            <a:pPr marL="0" indent="0">
              <a:buFont typeface="Arial" panose="020B0604020202020204" pitchFamily="34" charset="0"/>
              <a:buNone/>
            </a:pPr>
            <a:endParaRPr lang="fr-FR" dirty="0"/>
          </a:p>
          <a:p>
            <a:pPr marL="0" indent="0">
              <a:buFont typeface="Arial" panose="020B0604020202020204" pitchFamily="34" charset="0"/>
              <a:buNone/>
            </a:pPr>
            <a:r>
              <a:rPr lang="fr-FR" dirty="0"/>
              <a:t>&lt;html&gt; …</a:t>
            </a:r>
          </a:p>
        </p:txBody>
      </p:sp>
    </p:spTree>
    <p:extLst>
      <p:ext uri="{BB962C8B-B14F-4D97-AF65-F5344CB8AC3E}">
        <p14:creationId xmlns:p14="http://schemas.microsoft.com/office/powerpoint/2010/main" val="1412532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531D62-9B3D-5F45-AF03-FC4A4F38A653}"/>
              </a:ext>
            </a:extLst>
          </p:cNvPr>
          <p:cNvSpPr>
            <a:spLocks noGrp="1"/>
          </p:cNvSpPr>
          <p:nvPr>
            <p:ph type="title"/>
          </p:nvPr>
        </p:nvSpPr>
        <p:spPr/>
        <p:txBody>
          <a:bodyPr/>
          <a:lstStyle/>
          <a:p>
            <a:r>
              <a:rPr lang="fr-FR" dirty="0"/>
              <a:t>Le protocole HTTP : codes de réponse</a:t>
            </a:r>
          </a:p>
        </p:txBody>
      </p:sp>
      <p:sp>
        <p:nvSpPr>
          <p:cNvPr id="5" name="Espace réservé du contenu 4">
            <a:extLst>
              <a:ext uri="{FF2B5EF4-FFF2-40B4-BE49-F238E27FC236}">
                <a16:creationId xmlns:a16="http://schemas.microsoft.com/office/drawing/2014/main" id="{D7F4B190-B281-A448-881B-1BA1A669DC80}"/>
              </a:ext>
            </a:extLst>
          </p:cNvPr>
          <p:cNvSpPr>
            <a:spLocks noGrp="1"/>
          </p:cNvSpPr>
          <p:nvPr>
            <p:ph idx="1"/>
          </p:nvPr>
        </p:nvSpPr>
        <p:spPr/>
        <p:txBody>
          <a:bodyPr/>
          <a:lstStyle/>
          <a:p>
            <a:pPr marL="0" indent="0">
              <a:buNone/>
            </a:pPr>
            <a:r>
              <a:rPr lang="fr-FR" dirty="0"/>
              <a:t>Les réponses informatives (100 - 199),</a:t>
            </a:r>
          </a:p>
          <a:p>
            <a:pPr marL="0" indent="0">
              <a:buNone/>
            </a:pPr>
            <a:r>
              <a:rPr lang="fr-FR" dirty="0"/>
              <a:t>Les réponses de succès (200 - 299),</a:t>
            </a:r>
          </a:p>
          <a:p>
            <a:pPr marL="0" indent="0">
              <a:buNone/>
            </a:pPr>
            <a:r>
              <a:rPr lang="fr-FR" dirty="0"/>
              <a:t>Les messages de redirection (300 - 399),</a:t>
            </a:r>
          </a:p>
          <a:p>
            <a:pPr marL="0" indent="0">
              <a:buNone/>
            </a:pPr>
            <a:r>
              <a:rPr lang="fr-FR" dirty="0"/>
              <a:t>Les erreurs du client (400 - 499),</a:t>
            </a:r>
          </a:p>
          <a:p>
            <a:pPr marL="0" indent="0">
              <a:buNone/>
            </a:pPr>
            <a:r>
              <a:rPr lang="fr-FR" dirty="0"/>
              <a:t>Les erreurs du serveur (500 - 599).</a:t>
            </a:r>
          </a:p>
        </p:txBody>
      </p:sp>
    </p:spTree>
    <p:extLst>
      <p:ext uri="{BB962C8B-B14F-4D97-AF65-F5344CB8AC3E}">
        <p14:creationId xmlns:p14="http://schemas.microsoft.com/office/powerpoint/2010/main" val="2111002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24DAD4-1583-0E4A-A93B-6492FE69DF10}"/>
              </a:ext>
            </a:extLst>
          </p:cNvPr>
          <p:cNvSpPr>
            <a:spLocks noGrp="1"/>
          </p:cNvSpPr>
          <p:nvPr>
            <p:ph type="title"/>
          </p:nvPr>
        </p:nvSpPr>
        <p:spPr/>
        <p:txBody>
          <a:bodyPr/>
          <a:lstStyle/>
          <a:p>
            <a:r>
              <a:rPr lang="fr-FR" dirty="0"/>
              <a:t>Le protocole HTTP : cookies</a:t>
            </a:r>
          </a:p>
        </p:txBody>
      </p:sp>
      <p:sp>
        <p:nvSpPr>
          <p:cNvPr id="3" name="Espace réservé du contenu 2">
            <a:extLst>
              <a:ext uri="{FF2B5EF4-FFF2-40B4-BE49-F238E27FC236}">
                <a16:creationId xmlns:a16="http://schemas.microsoft.com/office/drawing/2014/main" id="{775A7A65-6657-9143-9D23-38A4DA6B7ED0}"/>
              </a:ext>
            </a:extLst>
          </p:cNvPr>
          <p:cNvSpPr>
            <a:spLocks noGrp="1"/>
          </p:cNvSpPr>
          <p:nvPr>
            <p:ph idx="1"/>
          </p:nvPr>
        </p:nvSpPr>
        <p:spPr/>
        <p:txBody>
          <a:bodyPr>
            <a:normAutofit/>
          </a:bodyPr>
          <a:lstStyle/>
          <a:p>
            <a:pPr marL="0" indent="0">
              <a:buNone/>
            </a:pPr>
            <a:r>
              <a:rPr lang="fr-FR" dirty="0"/>
              <a:t>Idée maintenir un contexte de connexion pour : </a:t>
            </a:r>
          </a:p>
          <a:p>
            <a:r>
              <a:rPr lang="fr-FR" dirty="0"/>
              <a:t>Gestion des sessions </a:t>
            </a:r>
          </a:p>
          <a:p>
            <a:r>
              <a:rPr lang="fr-FR" dirty="0"/>
              <a:t>Personnalisation</a:t>
            </a:r>
          </a:p>
          <a:p>
            <a:r>
              <a:rPr lang="fr-FR" dirty="0"/>
              <a:t>Le suivi</a:t>
            </a:r>
          </a:p>
        </p:txBody>
      </p:sp>
    </p:spTree>
    <p:extLst>
      <p:ext uri="{BB962C8B-B14F-4D97-AF65-F5344CB8AC3E}">
        <p14:creationId xmlns:p14="http://schemas.microsoft.com/office/powerpoint/2010/main" val="3516311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047E47-F295-A24C-86C1-B05A9623C368}"/>
              </a:ext>
            </a:extLst>
          </p:cNvPr>
          <p:cNvSpPr>
            <a:spLocks noGrp="1"/>
          </p:cNvSpPr>
          <p:nvPr>
            <p:ph type="title"/>
          </p:nvPr>
        </p:nvSpPr>
        <p:spPr/>
        <p:txBody>
          <a:bodyPr/>
          <a:lstStyle/>
          <a:p>
            <a:r>
              <a:rPr lang="fr-FR" dirty="0"/>
              <a:t>Le protocole HTTP : cookies</a:t>
            </a:r>
          </a:p>
        </p:txBody>
      </p:sp>
      <p:pic>
        <p:nvPicPr>
          <p:cNvPr id="5" name="Image 4">
            <a:extLst>
              <a:ext uri="{FF2B5EF4-FFF2-40B4-BE49-F238E27FC236}">
                <a16:creationId xmlns:a16="http://schemas.microsoft.com/office/drawing/2014/main" id="{BF95CB33-4966-E246-A99B-F91A320736F0}"/>
              </a:ext>
            </a:extLst>
          </p:cNvPr>
          <p:cNvPicPr>
            <a:picLocks noChangeAspect="1"/>
          </p:cNvPicPr>
          <p:nvPr/>
        </p:nvPicPr>
        <p:blipFill>
          <a:blip r:embed="rId2"/>
          <a:stretch>
            <a:fillRect/>
          </a:stretch>
        </p:blipFill>
        <p:spPr>
          <a:xfrm>
            <a:off x="3061855" y="1213166"/>
            <a:ext cx="5084618" cy="5494668"/>
          </a:xfrm>
          <a:prstGeom prst="rect">
            <a:avLst/>
          </a:prstGeom>
        </p:spPr>
      </p:pic>
    </p:spTree>
    <p:extLst>
      <p:ext uri="{BB962C8B-B14F-4D97-AF65-F5344CB8AC3E}">
        <p14:creationId xmlns:p14="http://schemas.microsoft.com/office/powerpoint/2010/main" val="2170863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505AB8-5746-8D4E-AA02-672F7ECCE73E}"/>
              </a:ext>
            </a:extLst>
          </p:cNvPr>
          <p:cNvSpPr>
            <a:spLocks noGrp="1"/>
          </p:cNvSpPr>
          <p:nvPr>
            <p:ph type="title"/>
          </p:nvPr>
        </p:nvSpPr>
        <p:spPr/>
        <p:txBody>
          <a:bodyPr/>
          <a:lstStyle/>
          <a:p>
            <a:r>
              <a:rPr lang="fr-FR" dirty="0" err="1"/>
              <a:t>HttpServlet</a:t>
            </a:r>
            <a:r>
              <a:rPr lang="fr-FR" dirty="0"/>
              <a:t> / Cookies </a:t>
            </a:r>
          </a:p>
        </p:txBody>
      </p:sp>
      <p:sp>
        <p:nvSpPr>
          <p:cNvPr id="3" name="Espace réservé du contenu 2">
            <a:extLst>
              <a:ext uri="{FF2B5EF4-FFF2-40B4-BE49-F238E27FC236}">
                <a16:creationId xmlns:a16="http://schemas.microsoft.com/office/drawing/2014/main" id="{4E6CEB95-61C2-5347-ADA0-D001E944FD7C}"/>
              </a:ext>
            </a:extLst>
          </p:cNvPr>
          <p:cNvSpPr>
            <a:spLocks noGrp="1"/>
          </p:cNvSpPr>
          <p:nvPr>
            <p:ph idx="1"/>
          </p:nvPr>
        </p:nvSpPr>
        <p:spPr>
          <a:xfrm>
            <a:off x="838200" y="1825624"/>
            <a:ext cx="3891455" cy="4459561"/>
          </a:xfrm>
        </p:spPr>
        <p:txBody>
          <a:bodyPr>
            <a:normAutofit fontScale="85000" lnSpcReduction="20000"/>
          </a:bodyPr>
          <a:lstStyle/>
          <a:p>
            <a:pPr marL="0" indent="0">
              <a:buNone/>
            </a:pPr>
            <a:r>
              <a:rPr lang="fr-FR" dirty="0" err="1"/>
              <a:t>HttpServlet</a:t>
            </a:r>
            <a:endParaRPr lang="fr-FR" dirty="0"/>
          </a:p>
          <a:p>
            <a:pPr lvl="1"/>
            <a:r>
              <a:rPr lang="fr-FR" dirty="0" err="1"/>
              <a:t>doGet</a:t>
            </a:r>
            <a:r>
              <a:rPr lang="fr-FR" dirty="0"/>
              <a:t>(), </a:t>
            </a:r>
            <a:r>
              <a:rPr lang="fr-FR" dirty="0" err="1"/>
              <a:t>doPost</a:t>
            </a:r>
            <a:r>
              <a:rPr lang="fr-FR" dirty="0"/>
              <a:t>(), …</a:t>
            </a:r>
          </a:p>
          <a:p>
            <a:pPr lvl="1"/>
            <a:r>
              <a:rPr lang="fr-FR" dirty="0"/>
              <a:t>Un objet réponse et un objet </a:t>
            </a:r>
            <a:r>
              <a:rPr lang="fr-FR" dirty="0" err="1"/>
              <a:t>reqête</a:t>
            </a:r>
            <a:endParaRPr lang="fr-FR" dirty="0"/>
          </a:p>
          <a:p>
            <a:pPr marL="0" indent="0">
              <a:buNone/>
            </a:pPr>
            <a:r>
              <a:rPr lang="fr-FR" dirty="0"/>
              <a:t>Cookie</a:t>
            </a:r>
          </a:p>
          <a:p>
            <a:pPr lvl="1"/>
            <a:r>
              <a:rPr lang="fr-FR" dirty="0"/>
              <a:t>Création</a:t>
            </a:r>
          </a:p>
          <a:p>
            <a:pPr lvl="2"/>
            <a:r>
              <a:rPr lang="fr-FR" dirty="0"/>
              <a:t>Instancié</a:t>
            </a:r>
          </a:p>
          <a:p>
            <a:pPr lvl="2"/>
            <a:r>
              <a:rPr lang="fr-FR" dirty="0"/>
              <a:t>Configuré</a:t>
            </a:r>
          </a:p>
          <a:p>
            <a:pPr lvl="2"/>
            <a:r>
              <a:rPr lang="fr-FR" dirty="0"/>
              <a:t>Ajouté à la réponse</a:t>
            </a:r>
          </a:p>
          <a:p>
            <a:pPr lvl="1"/>
            <a:r>
              <a:rPr lang="fr-FR" dirty="0"/>
              <a:t>Récupération dans la requête	</a:t>
            </a:r>
          </a:p>
          <a:p>
            <a:pPr marL="0" indent="0">
              <a:buNone/>
            </a:pPr>
            <a:r>
              <a:rPr lang="fr-FR" dirty="0" err="1"/>
              <a:t>HttpSession</a:t>
            </a:r>
            <a:endParaRPr lang="fr-FR" dirty="0"/>
          </a:p>
          <a:p>
            <a:pPr lvl="1"/>
            <a:r>
              <a:rPr lang="fr-FR" dirty="0"/>
              <a:t>Obtenir</a:t>
            </a:r>
          </a:p>
          <a:p>
            <a:pPr lvl="1"/>
            <a:r>
              <a:rPr lang="fr-FR" dirty="0"/>
              <a:t>Définir, utiliser un attribut	</a:t>
            </a:r>
          </a:p>
          <a:p>
            <a:pPr marL="0" indent="0">
              <a:buNone/>
            </a:pPr>
            <a:r>
              <a:rPr lang="fr-FR" dirty="0"/>
              <a:t>	</a:t>
            </a:r>
          </a:p>
          <a:p>
            <a:endParaRPr lang="fr-FR" dirty="0"/>
          </a:p>
        </p:txBody>
      </p:sp>
      <p:pic>
        <p:nvPicPr>
          <p:cNvPr id="4" name="Image 3" descr="Http Servlet">
            <a:extLst>
              <a:ext uri="{FF2B5EF4-FFF2-40B4-BE49-F238E27FC236}">
                <a16:creationId xmlns:a16="http://schemas.microsoft.com/office/drawing/2014/main" id="{AD577D45-184A-ADB8-DC6F-2419AC1E4AA6}"/>
              </a:ext>
            </a:extLst>
          </p:cNvPr>
          <p:cNvPicPr>
            <a:picLocks noChangeAspect="1"/>
          </p:cNvPicPr>
          <p:nvPr/>
        </p:nvPicPr>
        <p:blipFill>
          <a:blip r:embed="rId2"/>
          <a:stretch>
            <a:fillRect/>
          </a:stretch>
        </p:blipFill>
        <p:spPr>
          <a:xfrm>
            <a:off x="5837840" y="1027906"/>
            <a:ext cx="4762500" cy="2857500"/>
          </a:xfrm>
          <a:prstGeom prst="rect">
            <a:avLst/>
          </a:prstGeom>
        </p:spPr>
      </p:pic>
      <p:pic>
        <p:nvPicPr>
          <p:cNvPr id="5" name="Image 4" descr="Caractéristiques des servlets">
            <a:extLst>
              <a:ext uri="{FF2B5EF4-FFF2-40B4-BE49-F238E27FC236}">
                <a16:creationId xmlns:a16="http://schemas.microsoft.com/office/drawing/2014/main" id="{E6BB6573-DD70-6E0A-71A5-E20CFAFA6203}"/>
              </a:ext>
            </a:extLst>
          </p:cNvPr>
          <p:cNvPicPr>
            <a:picLocks noChangeAspect="1"/>
          </p:cNvPicPr>
          <p:nvPr/>
        </p:nvPicPr>
        <p:blipFill>
          <a:blip r:embed="rId3"/>
          <a:stretch>
            <a:fillRect/>
          </a:stretch>
        </p:blipFill>
        <p:spPr>
          <a:xfrm>
            <a:off x="8408494" y="3952177"/>
            <a:ext cx="2101850" cy="2540698"/>
          </a:xfrm>
          <a:prstGeom prst="rect">
            <a:avLst/>
          </a:prstGeom>
        </p:spPr>
      </p:pic>
    </p:spTree>
    <p:extLst>
      <p:ext uri="{BB962C8B-B14F-4D97-AF65-F5344CB8AC3E}">
        <p14:creationId xmlns:p14="http://schemas.microsoft.com/office/powerpoint/2010/main" val="2260126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A451AC-5067-3C6D-620C-FB18FAC2D711}"/>
              </a:ext>
            </a:extLst>
          </p:cNvPr>
          <p:cNvSpPr>
            <a:spLocks noGrp="1"/>
          </p:cNvSpPr>
          <p:nvPr>
            <p:ph type="title"/>
          </p:nvPr>
        </p:nvSpPr>
        <p:spPr/>
        <p:txBody>
          <a:bodyPr/>
          <a:lstStyle/>
          <a:p>
            <a:r>
              <a:rPr lang="fr-FR" dirty="0"/>
              <a:t>Hello world</a:t>
            </a:r>
          </a:p>
        </p:txBody>
      </p:sp>
      <p:sp>
        <p:nvSpPr>
          <p:cNvPr id="3" name="Espace réservé du contenu 2">
            <a:extLst>
              <a:ext uri="{FF2B5EF4-FFF2-40B4-BE49-F238E27FC236}">
                <a16:creationId xmlns:a16="http://schemas.microsoft.com/office/drawing/2014/main" id="{4DD4E26C-228B-0AFA-8877-5833CCF24D3E}"/>
              </a:ext>
            </a:extLst>
          </p:cNvPr>
          <p:cNvSpPr>
            <a:spLocks noGrp="1"/>
          </p:cNvSpPr>
          <p:nvPr>
            <p:ph idx="1"/>
          </p:nvPr>
        </p:nvSpPr>
        <p:spPr/>
        <p:txBody>
          <a:bodyPr>
            <a:normAutofit fontScale="47500" lnSpcReduction="20000"/>
          </a:bodyPr>
          <a:lstStyle/>
          <a:p>
            <a:pPr>
              <a:buNone/>
            </a:pPr>
            <a:r>
              <a:rPr lang="fr-FR" dirty="0">
                <a:solidFill>
                  <a:srgbClr val="0033B3"/>
                </a:solidFill>
                <a:effectLst/>
                <a:latin typeface="JetBrains Mono"/>
              </a:rPr>
              <a:t>package </a:t>
            </a:r>
            <a:r>
              <a:rPr lang="fr-FR" dirty="0" err="1">
                <a:solidFill>
                  <a:srgbClr val="080808"/>
                </a:solidFill>
                <a:effectLst/>
                <a:latin typeface="JetBrains Mono"/>
              </a:rPr>
              <a:t>iut.nantes.demo</a:t>
            </a:r>
            <a:r>
              <a:rPr lang="fr-FR" dirty="0">
                <a:solidFill>
                  <a:srgbClr val="080808"/>
                </a:solidFill>
                <a:effectLst/>
                <a:latin typeface="JetBrains Mono"/>
              </a:rPr>
              <a:t>;</a:t>
            </a:r>
            <a:br>
              <a:rPr lang="fr-FR" dirty="0">
                <a:solidFill>
                  <a:srgbClr val="080808"/>
                </a:solidFill>
                <a:effectLst/>
                <a:latin typeface="JetBrains Mono"/>
              </a:rPr>
            </a:br>
            <a:br>
              <a:rPr lang="fr-FR" dirty="0">
                <a:solidFill>
                  <a:srgbClr val="080808"/>
                </a:solidFill>
                <a:effectLst/>
                <a:latin typeface="JetBrains Mono"/>
              </a:rPr>
            </a:br>
            <a:r>
              <a:rPr lang="fr-FR" dirty="0">
                <a:solidFill>
                  <a:srgbClr val="0033B3"/>
                </a:solidFill>
                <a:effectLst/>
                <a:latin typeface="JetBrains Mono"/>
              </a:rPr>
              <a:t>import </a:t>
            </a:r>
            <a:r>
              <a:rPr lang="fr-FR" dirty="0" err="1">
                <a:solidFill>
                  <a:srgbClr val="080808"/>
                </a:solidFill>
                <a:effectLst/>
                <a:latin typeface="JetBrains Mono"/>
              </a:rPr>
              <a:t>java.io</a:t>
            </a:r>
            <a:r>
              <a:rPr lang="fr-FR" dirty="0">
                <a:solidFill>
                  <a:srgbClr val="080808"/>
                </a:solidFill>
                <a:effectLst/>
                <a:latin typeface="JetBrains Mono"/>
              </a:rPr>
              <a:t>.*;</a:t>
            </a:r>
            <a:br>
              <a:rPr lang="fr-FR" dirty="0">
                <a:solidFill>
                  <a:srgbClr val="080808"/>
                </a:solidFill>
                <a:effectLst/>
                <a:latin typeface="JetBrains Mono"/>
              </a:rPr>
            </a:br>
            <a:br>
              <a:rPr lang="fr-FR" dirty="0">
                <a:solidFill>
                  <a:srgbClr val="080808"/>
                </a:solidFill>
                <a:effectLst/>
                <a:latin typeface="JetBrains Mono"/>
              </a:rPr>
            </a:br>
            <a:r>
              <a:rPr lang="fr-FR" dirty="0">
                <a:solidFill>
                  <a:srgbClr val="0033B3"/>
                </a:solidFill>
                <a:effectLst/>
                <a:latin typeface="JetBrains Mono"/>
              </a:rPr>
              <a:t>import </a:t>
            </a:r>
            <a:r>
              <a:rPr lang="fr-FR" dirty="0" err="1">
                <a:solidFill>
                  <a:srgbClr val="080808"/>
                </a:solidFill>
                <a:effectLst/>
                <a:latin typeface="JetBrains Mono"/>
              </a:rPr>
              <a:t>jakarta.servlet.http</a:t>
            </a:r>
            <a:r>
              <a:rPr lang="fr-FR" dirty="0">
                <a:solidFill>
                  <a:srgbClr val="080808"/>
                </a:solidFill>
                <a:effectLst/>
                <a:latin typeface="JetBrains Mono"/>
              </a:rPr>
              <a:t>.*;</a:t>
            </a:r>
            <a:br>
              <a:rPr lang="fr-FR" dirty="0">
                <a:solidFill>
                  <a:srgbClr val="080808"/>
                </a:solidFill>
                <a:effectLst/>
                <a:latin typeface="JetBrains Mono"/>
              </a:rPr>
            </a:br>
            <a:r>
              <a:rPr lang="fr-FR" dirty="0">
                <a:solidFill>
                  <a:srgbClr val="0033B3"/>
                </a:solidFill>
                <a:effectLst/>
                <a:latin typeface="JetBrains Mono"/>
              </a:rPr>
              <a:t>import </a:t>
            </a:r>
            <a:r>
              <a:rPr lang="fr-FR" dirty="0" err="1">
                <a:solidFill>
                  <a:srgbClr val="080808"/>
                </a:solidFill>
                <a:effectLst/>
                <a:latin typeface="JetBrains Mono"/>
              </a:rPr>
              <a:t>jakarta.servlet.annotation</a:t>
            </a:r>
            <a:r>
              <a:rPr lang="fr-FR" dirty="0">
                <a:solidFill>
                  <a:srgbClr val="080808"/>
                </a:solidFill>
                <a:effectLst/>
                <a:latin typeface="JetBrains Mono"/>
              </a:rPr>
              <a:t>.*;</a:t>
            </a:r>
            <a:br>
              <a:rPr lang="fr-FR" dirty="0">
                <a:solidFill>
                  <a:srgbClr val="080808"/>
                </a:solidFill>
                <a:effectLst/>
                <a:latin typeface="JetBrains Mono"/>
              </a:rPr>
            </a:br>
            <a:br>
              <a:rPr lang="fr-FR" dirty="0">
                <a:solidFill>
                  <a:srgbClr val="080808"/>
                </a:solidFill>
                <a:effectLst/>
                <a:latin typeface="JetBrains Mono"/>
              </a:rPr>
            </a:br>
            <a:r>
              <a:rPr lang="fr-FR" dirty="0">
                <a:solidFill>
                  <a:srgbClr val="080808"/>
                </a:solidFill>
                <a:effectLst/>
                <a:latin typeface="JetBrains Mono"/>
              </a:rPr>
              <a:t>@</a:t>
            </a:r>
            <a:r>
              <a:rPr lang="fr-FR" dirty="0" err="1">
                <a:solidFill>
                  <a:srgbClr val="080808"/>
                </a:solidFill>
                <a:effectLst/>
                <a:latin typeface="JetBrains Mono"/>
              </a:rPr>
              <a:t>WebServlet</a:t>
            </a:r>
            <a:r>
              <a:rPr lang="fr-FR" dirty="0">
                <a:solidFill>
                  <a:srgbClr val="080808"/>
                </a:solidFill>
                <a:effectLst/>
                <a:latin typeface="JetBrains Mono"/>
              </a:rPr>
              <a:t>(</a:t>
            </a:r>
            <a:r>
              <a:rPr lang="fr-FR" dirty="0" err="1">
                <a:solidFill>
                  <a:srgbClr val="080808"/>
                </a:solidFill>
                <a:effectLst/>
                <a:latin typeface="JetBrains Mono"/>
              </a:rPr>
              <a:t>name</a:t>
            </a:r>
            <a:r>
              <a:rPr lang="fr-FR" dirty="0">
                <a:solidFill>
                  <a:srgbClr val="080808"/>
                </a:solidFill>
                <a:effectLst/>
                <a:latin typeface="JetBrains Mono"/>
              </a:rPr>
              <a:t> = </a:t>
            </a:r>
            <a:r>
              <a:rPr lang="fr-FR" dirty="0">
                <a:solidFill>
                  <a:srgbClr val="067D17"/>
                </a:solidFill>
                <a:effectLst/>
                <a:latin typeface="JetBrains Mono"/>
              </a:rPr>
              <a:t>"</a:t>
            </a:r>
            <a:r>
              <a:rPr lang="fr-FR" dirty="0" err="1">
                <a:solidFill>
                  <a:srgbClr val="067D17"/>
                </a:solidFill>
                <a:effectLst/>
                <a:latin typeface="JetBrains Mono"/>
              </a:rPr>
              <a:t>helloServlet</a:t>
            </a:r>
            <a:r>
              <a:rPr lang="fr-FR" dirty="0">
                <a:solidFill>
                  <a:srgbClr val="067D17"/>
                </a:solidFill>
                <a:effectLst/>
                <a:latin typeface="JetBrains Mono"/>
              </a:rPr>
              <a:t>"</a:t>
            </a:r>
            <a:r>
              <a:rPr lang="fr-FR" dirty="0">
                <a:solidFill>
                  <a:srgbClr val="080808"/>
                </a:solidFill>
                <a:effectLst/>
                <a:latin typeface="JetBrains Mono"/>
              </a:rPr>
              <a:t>, value = </a:t>
            </a:r>
            <a:r>
              <a:rPr lang="fr-FR" dirty="0">
                <a:solidFill>
                  <a:srgbClr val="067D17"/>
                </a:solidFill>
                <a:effectLst/>
                <a:latin typeface="JetBrains Mono"/>
              </a:rPr>
              <a:t>"/hello-servlet"</a:t>
            </a:r>
            <a:r>
              <a:rPr lang="fr-FR" dirty="0">
                <a:solidFill>
                  <a:srgbClr val="080808"/>
                </a:solidFill>
                <a:effectLst/>
                <a:latin typeface="JetBrains Mono"/>
              </a:rPr>
              <a:t>)</a:t>
            </a:r>
            <a:br>
              <a:rPr lang="fr-FR" dirty="0">
                <a:solidFill>
                  <a:srgbClr val="080808"/>
                </a:solidFill>
                <a:effectLst/>
                <a:latin typeface="JetBrains Mono"/>
              </a:rPr>
            </a:br>
            <a:r>
              <a:rPr lang="fr-FR" dirty="0">
                <a:solidFill>
                  <a:srgbClr val="0033B3"/>
                </a:solidFill>
                <a:effectLst/>
                <a:latin typeface="JetBrains Mono"/>
              </a:rPr>
              <a:t>public class </a:t>
            </a:r>
            <a:r>
              <a:rPr lang="fr-FR" dirty="0" err="1">
                <a:solidFill>
                  <a:srgbClr val="080808"/>
                </a:solidFill>
                <a:effectLst/>
                <a:latin typeface="JetBrains Mono"/>
              </a:rPr>
              <a:t>HelloServlet</a:t>
            </a:r>
            <a:r>
              <a:rPr lang="fr-FR" dirty="0">
                <a:solidFill>
                  <a:srgbClr val="080808"/>
                </a:solidFill>
                <a:effectLst/>
                <a:latin typeface="JetBrains Mono"/>
              </a:rPr>
              <a:t> </a:t>
            </a:r>
            <a:r>
              <a:rPr lang="fr-FR" dirty="0" err="1">
                <a:solidFill>
                  <a:srgbClr val="0033B3"/>
                </a:solidFill>
                <a:effectLst/>
                <a:latin typeface="JetBrains Mono"/>
              </a:rPr>
              <a:t>extends</a:t>
            </a:r>
            <a:r>
              <a:rPr lang="fr-FR" dirty="0">
                <a:solidFill>
                  <a:srgbClr val="0033B3"/>
                </a:solidFill>
                <a:effectLst/>
                <a:latin typeface="JetBrains Mono"/>
              </a:rPr>
              <a:t> </a:t>
            </a:r>
            <a:r>
              <a:rPr lang="fr-FR" dirty="0" err="1">
                <a:solidFill>
                  <a:srgbClr val="080808"/>
                </a:solidFill>
                <a:effectLst/>
                <a:latin typeface="JetBrains Mono"/>
              </a:rPr>
              <a:t>HttpServlet</a:t>
            </a:r>
            <a:r>
              <a:rPr lang="fr-FR" dirty="0">
                <a:solidFill>
                  <a:srgbClr val="080808"/>
                </a:solidFill>
                <a:effectLst/>
                <a:latin typeface="JetBrains Mono"/>
              </a:rPr>
              <a:t> {</a:t>
            </a:r>
            <a:br>
              <a:rPr lang="fr-FR" dirty="0">
                <a:solidFill>
                  <a:srgbClr val="080808"/>
                </a:solidFill>
                <a:effectLst/>
                <a:latin typeface="JetBrains Mono"/>
              </a:rPr>
            </a:br>
            <a:r>
              <a:rPr lang="fr-FR" dirty="0">
                <a:solidFill>
                  <a:srgbClr val="080808"/>
                </a:solidFill>
                <a:effectLst/>
                <a:latin typeface="JetBrains Mono"/>
              </a:rPr>
              <a:t>    </a:t>
            </a:r>
            <a:r>
              <a:rPr lang="fr-FR" dirty="0" err="1">
                <a:solidFill>
                  <a:srgbClr val="0033B3"/>
                </a:solidFill>
                <a:effectLst/>
                <a:latin typeface="JetBrains Mono"/>
              </a:rPr>
              <a:t>private</a:t>
            </a:r>
            <a:r>
              <a:rPr lang="fr-FR" dirty="0">
                <a:solidFill>
                  <a:srgbClr val="0033B3"/>
                </a:solidFill>
                <a:effectLst/>
                <a:latin typeface="JetBrains Mono"/>
              </a:rPr>
              <a:t> </a:t>
            </a:r>
            <a:r>
              <a:rPr lang="fr-FR" dirty="0">
                <a:solidFill>
                  <a:srgbClr val="080808"/>
                </a:solidFill>
                <a:effectLst/>
                <a:latin typeface="JetBrains Mono"/>
              </a:rPr>
              <a:t>String message;</a:t>
            </a:r>
            <a:br>
              <a:rPr lang="fr-FR" dirty="0">
                <a:solidFill>
                  <a:srgbClr val="080808"/>
                </a:solidFill>
                <a:effectLst/>
                <a:latin typeface="JetBrains Mono"/>
              </a:rPr>
            </a:br>
            <a:br>
              <a:rPr lang="fr-FR" dirty="0">
                <a:solidFill>
                  <a:srgbClr val="080808"/>
                </a:solidFill>
                <a:effectLst/>
                <a:latin typeface="JetBrains Mono"/>
              </a:rPr>
            </a:br>
            <a:r>
              <a:rPr lang="fr-FR" dirty="0">
                <a:solidFill>
                  <a:srgbClr val="080808"/>
                </a:solidFill>
                <a:effectLst/>
                <a:latin typeface="JetBrains Mono"/>
              </a:rPr>
              <a:t>    </a:t>
            </a:r>
            <a:r>
              <a:rPr lang="fr-FR" dirty="0">
                <a:solidFill>
                  <a:srgbClr val="0033B3"/>
                </a:solidFill>
                <a:effectLst/>
                <a:latin typeface="JetBrains Mono"/>
              </a:rPr>
              <a:t>public </a:t>
            </a:r>
            <a:r>
              <a:rPr lang="fr-FR" dirty="0" err="1">
                <a:solidFill>
                  <a:srgbClr val="0033B3"/>
                </a:solidFill>
                <a:effectLst/>
                <a:latin typeface="JetBrains Mono"/>
              </a:rPr>
              <a:t>void</a:t>
            </a:r>
            <a:r>
              <a:rPr lang="fr-FR" dirty="0">
                <a:solidFill>
                  <a:srgbClr val="0033B3"/>
                </a:solidFill>
                <a:effectLst/>
                <a:latin typeface="JetBrains Mono"/>
              </a:rPr>
              <a:t> </a:t>
            </a:r>
            <a:r>
              <a:rPr lang="fr-FR" dirty="0">
                <a:solidFill>
                  <a:srgbClr val="080808"/>
                </a:solidFill>
                <a:effectLst/>
                <a:latin typeface="JetBrains Mono"/>
              </a:rPr>
              <a:t>init() {</a:t>
            </a:r>
            <a:br>
              <a:rPr lang="fr-FR" dirty="0">
                <a:solidFill>
                  <a:srgbClr val="080808"/>
                </a:solidFill>
                <a:effectLst/>
                <a:latin typeface="JetBrains Mono"/>
              </a:rPr>
            </a:br>
            <a:r>
              <a:rPr lang="fr-FR" dirty="0">
                <a:solidFill>
                  <a:srgbClr val="080808"/>
                </a:solidFill>
                <a:effectLst/>
                <a:latin typeface="JetBrains Mono"/>
              </a:rPr>
              <a:t>        message = </a:t>
            </a:r>
            <a:r>
              <a:rPr lang="fr-FR" dirty="0">
                <a:solidFill>
                  <a:srgbClr val="067D17"/>
                </a:solidFill>
                <a:effectLst/>
                <a:latin typeface="JetBrains Mono"/>
              </a:rPr>
              <a:t>"Hello World!!"</a:t>
            </a:r>
            <a:r>
              <a:rPr lang="fr-FR" dirty="0">
                <a:solidFill>
                  <a:srgbClr val="080808"/>
                </a:solidFill>
                <a:effectLst/>
                <a:latin typeface="JetBrains Mono"/>
              </a:rPr>
              <a:t>;</a:t>
            </a:r>
            <a:br>
              <a:rPr lang="fr-FR" dirty="0">
                <a:solidFill>
                  <a:srgbClr val="080808"/>
                </a:solidFill>
                <a:effectLst/>
                <a:latin typeface="JetBrains Mono"/>
              </a:rPr>
            </a:br>
            <a:r>
              <a:rPr lang="fr-FR" dirty="0">
                <a:solidFill>
                  <a:srgbClr val="080808"/>
                </a:solidFill>
                <a:effectLst/>
                <a:latin typeface="JetBrains Mono"/>
              </a:rPr>
              <a:t>    }</a:t>
            </a:r>
            <a:br>
              <a:rPr lang="fr-FR" dirty="0">
                <a:solidFill>
                  <a:srgbClr val="080808"/>
                </a:solidFill>
                <a:effectLst/>
                <a:latin typeface="JetBrains Mono"/>
              </a:rPr>
            </a:br>
            <a:br>
              <a:rPr lang="fr-FR" dirty="0">
                <a:solidFill>
                  <a:srgbClr val="080808"/>
                </a:solidFill>
                <a:effectLst/>
                <a:latin typeface="JetBrains Mono"/>
              </a:rPr>
            </a:br>
            <a:r>
              <a:rPr lang="fr-FR" dirty="0">
                <a:solidFill>
                  <a:srgbClr val="080808"/>
                </a:solidFill>
                <a:effectLst/>
                <a:latin typeface="JetBrains Mono"/>
              </a:rPr>
              <a:t>    </a:t>
            </a:r>
            <a:r>
              <a:rPr lang="fr-FR" dirty="0">
                <a:solidFill>
                  <a:srgbClr val="0033B3"/>
                </a:solidFill>
                <a:effectLst/>
                <a:latin typeface="JetBrains Mono"/>
              </a:rPr>
              <a:t>public </a:t>
            </a:r>
            <a:r>
              <a:rPr lang="fr-FR" dirty="0" err="1">
                <a:solidFill>
                  <a:srgbClr val="0033B3"/>
                </a:solidFill>
                <a:effectLst/>
                <a:latin typeface="JetBrains Mono"/>
              </a:rPr>
              <a:t>void</a:t>
            </a:r>
            <a:r>
              <a:rPr lang="fr-FR" dirty="0">
                <a:solidFill>
                  <a:srgbClr val="0033B3"/>
                </a:solidFill>
                <a:effectLst/>
                <a:latin typeface="JetBrains Mono"/>
              </a:rPr>
              <a:t> </a:t>
            </a:r>
            <a:r>
              <a:rPr lang="fr-FR" dirty="0" err="1">
                <a:solidFill>
                  <a:srgbClr val="080808"/>
                </a:solidFill>
                <a:effectLst/>
                <a:latin typeface="JetBrains Mono"/>
              </a:rPr>
              <a:t>doGet</a:t>
            </a:r>
            <a:r>
              <a:rPr lang="fr-FR" dirty="0">
                <a:solidFill>
                  <a:srgbClr val="080808"/>
                </a:solidFill>
                <a:effectLst/>
                <a:latin typeface="JetBrains Mono"/>
              </a:rPr>
              <a:t>(</a:t>
            </a:r>
            <a:r>
              <a:rPr lang="fr-FR" dirty="0" err="1">
                <a:solidFill>
                  <a:srgbClr val="080808"/>
                </a:solidFill>
                <a:effectLst/>
                <a:latin typeface="JetBrains Mono"/>
              </a:rPr>
              <a:t>HttpServletRequest</a:t>
            </a:r>
            <a:r>
              <a:rPr lang="fr-FR" dirty="0">
                <a:solidFill>
                  <a:srgbClr val="080808"/>
                </a:solidFill>
                <a:effectLst/>
                <a:latin typeface="JetBrains Mono"/>
              </a:rPr>
              <a:t> </a:t>
            </a:r>
            <a:r>
              <a:rPr lang="fr-FR" dirty="0" err="1">
                <a:solidFill>
                  <a:srgbClr val="080808"/>
                </a:solidFill>
                <a:effectLst/>
                <a:latin typeface="JetBrains Mono"/>
              </a:rPr>
              <a:t>request</a:t>
            </a:r>
            <a:r>
              <a:rPr lang="fr-FR" dirty="0">
                <a:solidFill>
                  <a:srgbClr val="080808"/>
                </a:solidFill>
                <a:effectLst/>
                <a:latin typeface="JetBrains Mono"/>
              </a:rPr>
              <a:t>, </a:t>
            </a:r>
            <a:r>
              <a:rPr lang="fr-FR" dirty="0" err="1">
                <a:solidFill>
                  <a:srgbClr val="080808"/>
                </a:solidFill>
                <a:effectLst/>
                <a:latin typeface="JetBrains Mono"/>
              </a:rPr>
              <a:t>HttpServletResponse</a:t>
            </a:r>
            <a:r>
              <a:rPr lang="fr-FR" dirty="0">
                <a:solidFill>
                  <a:srgbClr val="080808"/>
                </a:solidFill>
                <a:effectLst/>
                <a:latin typeface="JetBrains Mono"/>
              </a:rPr>
              <a:t> </a:t>
            </a:r>
            <a:r>
              <a:rPr lang="fr-FR" dirty="0" err="1">
                <a:solidFill>
                  <a:srgbClr val="080808"/>
                </a:solidFill>
                <a:effectLst/>
                <a:latin typeface="JetBrains Mono"/>
              </a:rPr>
              <a:t>response</a:t>
            </a:r>
            <a:r>
              <a:rPr lang="fr-FR" dirty="0">
                <a:solidFill>
                  <a:srgbClr val="080808"/>
                </a:solidFill>
                <a:effectLst/>
                <a:latin typeface="JetBrains Mono"/>
              </a:rPr>
              <a:t>) </a:t>
            </a:r>
            <a:r>
              <a:rPr lang="fr-FR" dirty="0" err="1">
                <a:solidFill>
                  <a:srgbClr val="0033B3"/>
                </a:solidFill>
                <a:effectLst/>
                <a:latin typeface="JetBrains Mono"/>
              </a:rPr>
              <a:t>throws</a:t>
            </a:r>
            <a:r>
              <a:rPr lang="fr-FR" dirty="0">
                <a:solidFill>
                  <a:srgbClr val="0033B3"/>
                </a:solidFill>
                <a:effectLst/>
                <a:latin typeface="JetBrains Mono"/>
              </a:rPr>
              <a:t> </a:t>
            </a:r>
            <a:r>
              <a:rPr lang="fr-FR" dirty="0" err="1">
                <a:solidFill>
                  <a:srgbClr val="080808"/>
                </a:solidFill>
                <a:effectLst/>
                <a:latin typeface="JetBrains Mono"/>
              </a:rPr>
              <a:t>IOException</a:t>
            </a:r>
            <a:r>
              <a:rPr lang="fr-FR" dirty="0">
                <a:solidFill>
                  <a:srgbClr val="080808"/>
                </a:solidFill>
                <a:effectLst/>
                <a:latin typeface="JetBrains Mono"/>
              </a:rPr>
              <a:t> {</a:t>
            </a:r>
            <a:br>
              <a:rPr lang="fr-FR" dirty="0">
                <a:solidFill>
                  <a:srgbClr val="080808"/>
                </a:solidFill>
                <a:effectLst/>
                <a:latin typeface="JetBrains Mono"/>
              </a:rPr>
            </a:br>
            <a:r>
              <a:rPr lang="fr-FR" dirty="0">
                <a:solidFill>
                  <a:srgbClr val="080808"/>
                </a:solidFill>
                <a:effectLst/>
                <a:latin typeface="JetBrains Mono"/>
              </a:rPr>
              <a:t>        </a:t>
            </a:r>
            <a:r>
              <a:rPr lang="fr-FR" dirty="0" err="1">
                <a:solidFill>
                  <a:srgbClr val="080808"/>
                </a:solidFill>
                <a:effectLst/>
                <a:latin typeface="JetBrains Mono"/>
              </a:rPr>
              <a:t>response.setContentType</a:t>
            </a:r>
            <a:r>
              <a:rPr lang="fr-FR" dirty="0">
                <a:solidFill>
                  <a:srgbClr val="080808"/>
                </a:solidFill>
                <a:effectLst/>
                <a:latin typeface="JetBrains Mono"/>
              </a:rPr>
              <a:t>(</a:t>
            </a:r>
            <a:r>
              <a:rPr lang="fr-FR" dirty="0">
                <a:solidFill>
                  <a:srgbClr val="067D17"/>
                </a:solidFill>
                <a:effectLst/>
                <a:latin typeface="JetBrains Mono"/>
              </a:rPr>
              <a:t>"</a:t>
            </a:r>
            <a:r>
              <a:rPr lang="fr-FR" dirty="0" err="1">
                <a:solidFill>
                  <a:srgbClr val="067D17"/>
                </a:solidFill>
                <a:effectLst/>
                <a:latin typeface="JetBrains Mono"/>
              </a:rPr>
              <a:t>text</a:t>
            </a:r>
            <a:r>
              <a:rPr lang="fr-FR" dirty="0">
                <a:solidFill>
                  <a:srgbClr val="067D17"/>
                </a:solidFill>
                <a:effectLst/>
                <a:latin typeface="JetBrains Mono"/>
              </a:rPr>
              <a:t>/html"</a:t>
            </a:r>
            <a:r>
              <a:rPr lang="fr-FR" dirty="0">
                <a:solidFill>
                  <a:srgbClr val="080808"/>
                </a:solidFill>
                <a:effectLst/>
                <a:latin typeface="JetBrains Mono"/>
              </a:rPr>
              <a:t>);</a:t>
            </a:r>
            <a:br>
              <a:rPr lang="fr-FR" dirty="0">
                <a:solidFill>
                  <a:srgbClr val="080808"/>
                </a:solidFill>
                <a:effectLst/>
                <a:latin typeface="JetBrains Mono"/>
              </a:rPr>
            </a:br>
            <a:br>
              <a:rPr lang="fr-FR" dirty="0">
                <a:solidFill>
                  <a:srgbClr val="080808"/>
                </a:solidFill>
                <a:effectLst/>
                <a:latin typeface="JetBrains Mono"/>
              </a:rPr>
            </a:br>
            <a:r>
              <a:rPr lang="fr-FR" dirty="0">
                <a:solidFill>
                  <a:srgbClr val="080808"/>
                </a:solidFill>
                <a:effectLst/>
                <a:latin typeface="JetBrains Mono"/>
              </a:rPr>
              <a:t>        </a:t>
            </a:r>
            <a:r>
              <a:rPr lang="fr-FR" i="1" dirty="0">
                <a:solidFill>
                  <a:srgbClr val="8C8C8C"/>
                </a:solidFill>
                <a:effectLst/>
                <a:latin typeface="JetBrains Mono"/>
              </a:rPr>
              <a:t>// Hello</a:t>
            </a:r>
            <a:br>
              <a:rPr lang="fr-FR" i="1" dirty="0">
                <a:solidFill>
                  <a:srgbClr val="8C8C8C"/>
                </a:solidFill>
                <a:effectLst/>
                <a:latin typeface="JetBrains Mono"/>
              </a:rPr>
            </a:br>
            <a:r>
              <a:rPr lang="fr-FR" i="1" dirty="0">
                <a:solidFill>
                  <a:srgbClr val="8C8C8C"/>
                </a:solidFill>
                <a:effectLst/>
                <a:latin typeface="JetBrains Mono"/>
              </a:rPr>
              <a:t>        </a:t>
            </a:r>
            <a:r>
              <a:rPr lang="fr-FR" dirty="0" err="1">
                <a:solidFill>
                  <a:srgbClr val="080808"/>
                </a:solidFill>
                <a:effectLst/>
                <a:latin typeface="JetBrains Mono"/>
              </a:rPr>
              <a:t>PrintWriter</a:t>
            </a:r>
            <a:r>
              <a:rPr lang="fr-FR" dirty="0">
                <a:solidFill>
                  <a:srgbClr val="080808"/>
                </a:solidFill>
                <a:effectLst/>
                <a:latin typeface="JetBrains Mono"/>
              </a:rPr>
              <a:t> out = </a:t>
            </a:r>
            <a:r>
              <a:rPr lang="fr-FR" dirty="0" err="1">
                <a:solidFill>
                  <a:srgbClr val="080808"/>
                </a:solidFill>
                <a:effectLst/>
                <a:latin typeface="JetBrains Mono"/>
              </a:rPr>
              <a:t>response.getWriter</a:t>
            </a:r>
            <a:r>
              <a:rPr lang="fr-FR" dirty="0">
                <a:solidFill>
                  <a:srgbClr val="080808"/>
                </a:solidFill>
                <a:effectLst/>
                <a:latin typeface="JetBrains Mono"/>
              </a:rPr>
              <a:t>();</a:t>
            </a:r>
            <a:br>
              <a:rPr lang="fr-FR" dirty="0">
                <a:solidFill>
                  <a:srgbClr val="080808"/>
                </a:solidFill>
                <a:effectLst/>
                <a:latin typeface="JetBrains Mono"/>
              </a:rPr>
            </a:br>
            <a:r>
              <a:rPr lang="fr-FR" dirty="0">
                <a:solidFill>
                  <a:srgbClr val="080808"/>
                </a:solidFill>
                <a:effectLst/>
                <a:latin typeface="JetBrains Mono"/>
              </a:rPr>
              <a:t>        </a:t>
            </a:r>
            <a:r>
              <a:rPr lang="fr-FR" dirty="0" err="1">
                <a:solidFill>
                  <a:srgbClr val="080808"/>
                </a:solidFill>
                <a:effectLst/>
                <a:latin typeface="JetBrains Mono"/>
              </a:rPr>
              <a:t>out.println</a:t>
            </a:r>
            <a:r>
              <a:rPr lang="fr-FR" dirty="0">
                <a:solidFill>
                  <a:srgbClr val="080808"/>
                </a:solidFill>
                <a:effectLst/>
                <a:latin typeface="JetBrains Mono"/>
              </a:rPr>
              <a:t>(</a:t>
            </a:r>
            <a:r>
              <a:rPr lang="fr-FR" dirty="0">
                <a:solidFill>
                  <a:srgbClr val="067D17"/>
                </a:solidFill>
                <a:effectLst/>
                <a:latin typeface="JetBrains Mono"/>
              </a:rPr>
              <a:t>"&lt;html&gt;&lt;body&gt;"</a:t>
            </a:r>
            <a:r>
              <a:rPr lang="fr-FR" dirty="0">
                <a:solidFill>
                  <a:srgbClr val="080808"/>
                </a:solidFill>
                <a:effectLst/>
                <a:latin typeface="JetBrains Mono"/>
              </a:rPr>
              <a:t>);</a:t>
            </a:r>
            <a:br>
              <a:rPr lang="fr-FR" dirty="0">
                <a:solidFill>
                  <a:srgbClr val="080808"/>
                </a:solidFill>
                <a:effectLst/>
                <a:latin typeface="JetBrains Mono"/>
              </a:rPr>
            </a:br>
            <a:r>
              <a:rPr lang="fr-FR" dirty="0">
                <a:solidFill>
                  <a:srgbClr val="080808"/>
                </a:solidFill>
                <a:effectLst/>
                <a:latin typeface="JetBrains Mono"/>
              </a:rPr>
              <a:t>        </a:t>
            </a:r>
            <a:r>
              <a:rPr lang="fr-FR" dirty="0" err="1">
                <a:solidFill>
                  <a:srgbClr val="080808"/>
                </a:solidFill>
                <a:effectLst/>
                <a:latin typeface="JetBrains Mono"/>
              </a:rPr>
              <a:t>out.println</a:t>
            </a:r>
            <a:r>
              <a:rPr lang="fr-FR" dirty="0">
                <a:solidFill>
                  <a:srgbClr val="080808"/>
                </a:solidFill>
                <a:effectLst/>
                <a:latin typeface="JetBrains Mono"/>
              </a:rPr>
              <a:t>(</a:t>
            </a:r>
            <a:r>
              <a:rPr lang="fr-FR" dirty="0">
                <a:solidFill>
                  <a:srgbClr val="067D17"/>
                </a:solidFill>
                <a:effectLst/>
                <a:latin typeface="JetBrains Mono"/>
              </a:rPr>
              <a:t>"&lt;h1&gt;" </a:t>
            </a:r>
            <a:r>
              <a:rPr lang="fr-FR" dirty="0">
                <a:solidFill>
                  <a:srgbClr val="080808"/>
                </a:solidFill>
                <a:effectLst/>
                <a:latin typeface="JetBrains Mono"/>
              </a:rPr>
              <a:t>+ message + </a:t>
            </a:r>
            <a:r>
              <a:rPr lang="fr-FR" dirty="0">
                <a:solidFill>
                  <a:srgbClr val="067D17"/>
                </a:solidFill>
                <a:effectLst/>
                <a:latin typeface="JetBrains Mono"/>
              </a:rPr>
              <a:t>"&lt;/h1&gt;"</a:t>
            </a:r>
            <a:r>
              <a:rPr lang="fr-FR" dirty="0">
                <a:solidFill>
                  <a:srgbClr val="080808"/>
                </a:solidFill>
                <a:effectLst/>
                <a:latin typeface="JetBrains Mono"/>
              </a:rPr>
              <a:t>);</a:t>
            </a:r>
            <a:br>
              <a:rPr lang="fr-FR" dirty="0">
                <a:solidFill>
                  <a:srgbClr val="080808"/>
                </a:solidFill>
                <a:effectLst/>
                <a:latin typeface="JetBrains Mono"/>
              </a:rPr>
            </a:br>
            <a:r>
              <a:rPr lang="fr-FR" dirty="0">
                <a:solidFill>
                  <a:srgbClr val="080808"/>
                </a:solidFill>
                <a:effectLst/>
                <a:latin typeface="JetBrains Mono"/>
              </a:rPr>
              <a:t>        </a:t>
            </a:r>
            <a:r>
              <a:rPr lang="fr-FR" dirty="0" err="1">
                <a:solidFill>
                  <a:srgbClr val="080808"/>
                </a:solidFill>
                <a:effectLst/>
                <a:latin typeface="JetBrains Mono"/>
              </a:rPr>
              <a:t>out.println</a:t>
            </a:r>
            <a:r>
              <a:rPr lang="fr-FR" dirty="0">
                <a:solidFill>
                  <a:srgbClr val="080808"/>
                </a:solidFill>
                <a:effectLst/>
                <a:latin typeface="JetBrains Mono"/>
              </a:rPr>
              <a:t>(</a:t>
            </a:r>
            <a:r>
              <a:rPr lang="fr-FR" dirty="0">
                <a:solidFill>
                  <a:srgbClr val="067D17"/>
                </a:solidFill>
                <a:effectLst/>
                <a:latin typeface="JetBrains Mono"/>
              </a:rPr>
              <a:t>"&lt;/body&gt;&lt;/html&gt;"</a:t>
            </a:r>
            <a:r>
              <a:rPr lang="fr-FR" dirty="0">
                <a:solidFill>
                  <a:srgbClr val="080808"/>
                </a:solidFill>
                <a:effectLst/>
                <a:latin typeface="JetBrains Mono"/>
              </a:rPr>
              <a:t>);</a:t>
            </a:r>
            <a:br>
              <a:rPr lang="fr-FR" dirty="0">
                <a:solidFill>
                  <a:srgbClr val="080808"/>
                </a:solidFill>
                <a:effectLst/>
                <a:latin typeface="JetBrains Mono"/>
              </a:rPr>
            </a:br>
            <a:r>
              <a:rPr lang="fr-FR" dirty="0">
                <a:solidFill>
                  <a:srgbClr val="080808"/>
                </a:solidFill>
                <a:effectLst/>
                <a:latin typeface="JetBrains Mono"/>
              </a:rPr>
              <a:t>    }</a:t>
            </a:r>
            <a:br>
              <a:rPr lang="fr-FR" dirty="0">
                <a:solidFill>
                  <a:srgbClr val="080808"/>
                </a:solidFill>
                <a:effectLst/>
                <a:latin typeface="JetBrains Mono"/>
              </a:rPr>
            </a:br>
            <a:br>
              <a:rPr lang="fr-FR" dirty="0">
                <a:solidFill>
                  <a:srgbClr val="080808"/>
                </a:solidFill>
                <a:effectLst/>
                <a:latin typeface="JetBrains Mono"/>
              </a:rPr>
            </a:br>
            <a:r>
              <a:rPr lang="fr-FR" dirty="0">
                <a:solidFill>
                  <a:srgbClr val="080808"/>
                </a:solidFill>
                <a:effectLst/>
                <a:latin typeface="JetBrains Mono"/>
              </a:rPr>
              <a:t>    </a:t>
            </a:r>
            <a:r>
              <a:rPr lang="fr-FR" dirty="0">
                <a:solidFill>
                  <a:srgbClr val="0033B3"/>
                </a:solidFill>
                <a:effectLst/>
                <a:latin typeface="JetBrains Mono"/>
              </a:rPr>
              <a:t>public </a:t>
            </a:r>
            <a:r>
              <a:rPr lang="fr-FR" dirty="0" err="1">
                <a:solidFill>
                  <a:srgbClr val="0033B3"/>
                </a:solidFill>
                <a:effectLst/>
                <a:latin typeface="JetBrains Mono"/>
              </a:rPr>
              <a:t>void</a:t>
            </a:r>
            <a:r>
              <a:rPr lang="fr-FR" dirty="0">
                <a:solidFill>
                  <a:srgbClr val="0033B3"/>
                </a:solidFill>
                <a:effectLst/>
                <a:latin typeface="JetBrains Mono"/>
              </a:rPr>
              <a:t> </a:t>
            </a:r>
            <a:r>
              <a:rPr lang="fr-FR" dirty="0">
                <a:solidFill>
                  <a:srgbClr val="080808"/>
                </a:solidFill>
                <a:effectLst/>
                <a:latin typeface="JetBrains Mono"/>
              </a:rPr>
              <a:t>destroy() {</a:t>
            </a:r>
            <a:br>
              <a:rPr lang="fr-FR" dirty="0">
                <a:solidFill>
                  <a:srgbClr val="080808"/>
                </a:solidFill>
                <a:effectLst/>
                <a:latin typeface="JetBrains Mono"/>
              </a:rPr>
            </a:br>
            <a:r>
              <a:rPr lang="fr-FR" dirty="0">
                <a:solidFill>
                  <a:srgbClr val="080808"/>
                </a:solidFill>
                <a:effectLst/>
                <a:latin typeface="JetBrains Mono"/>
              </a:rPr>
              <a:t>    }</a:t>
            </a:r>
            <a:br>
              <a:rPr lang="fr-FR" dirty="0">
                <a:solidFill>
                  <a:srgbClr val="080808"/>
                </a:solidFill>
                <a:effectLst/>
                <a:latin typeface="JetBrains Mono"/>
              </a:rPr>
            </a:br>
            <a:r>
              <a:rPr lang="fr-FR" dirty="0">
                <a:solidFill>
                  <a:srgbClr val="080808"/>
                </a:solidFill>
                <a:effectLst/>
                <a:latin typeface="JetBrains Mono"/>
              </a:rPr>
              <a:t>}</a:t>
            </a:r>
            <a:br>
              <a:rPr lang="fr-FR" dirty="0">
                <a:solidFill>
                  <a:srgbClr val="080808"/>
                </a:solidFill>
                <a:effectLst/>
                <a:latin typeface="JetBrains Mono"/>
              </a:rPr>
            </a:br>
            <a:endParaRPr lang="fr-FR" dirty="0">
              <a:solidFill>
                <a:srgbClr val="080808"/>
              </a:solidFill>
              <a:effectLst/>
              <a:latin typeface="JetBrains Mono"/>
            </a:endParaRPr>
          </a:p>
          <a:p>
            <a:pPr marL="0" indent="0">
              <a:buNone/>
            </a:pPr>
            <a:endParaRPr lang="fr-FR" dirty="0"/>
          </a:p>
        </p:txBody>
      </p:sp>
    </p:spTree>
    <p:extLst>
      <p:ext uri="{BB962C8B-B14F-4D97-AF65-F5344CB8AC3E}">
        <p14:creationId xmlns:p14="http://schemas.microsoft.com/office/powerpoint/2010/main" val="686048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4E4091-9083-A4CF-0148-C1BE62226DEB}"/>
              </a:ext>
            </a:extLst>
          </p:cNvPr>
          <p:cNvSpPr>
            <a:spLocks noGrp="1"/>
          </p:cNvSpPr>
          <p:nvPr>
            <p:ph type="title"/>
          </p:nvPr>
        </p:nvSpPr>
        <p:spPr/>
        <p:txBody>
          <a:bodyPr/>
          <a:lstStyle/>
          <a:p>
            <a:r>
              <a:rPr lang="fr-FR" dirty="0"/>
              <a:t>Environnement d’exécution à l’IUT (</a:t>
            </a:r>
            <a:r>
              <a:rPr lang="fr-FR" dirty="0" err="1"/>
              <a:t>podman</a:t>
            </a:r>
            <a:r>
              <a:rPr lang="fr-FR" dirty="0"/>
              <a:t>)</a:t>
            </a:r>
          </a:p>
        </p:txBody>
      </p:sp>
      <p:sp>
        <p:nvSpPr>
          <p:cNvPr id="3" name="Espace réservé du contenu 2">
            <a:extLst>
              <a:ext uri="{FF2B5EF4-FFF2-40B4-BE49-F238E27FC236}">
                <a16:creationId xmlns:a16="http://schemas.microsoft.com/office/drawing/2014/main" id="{7C5385C5-B3EB-BE23-604A-6396D8A4527E}"/>
              </a:ext>
            </a:extLst>
          </p:cNvPr>
          <p:cNvSpPr>
            <a:spLocks noGrp="1"/>
          </p:cNvSpPr>
          <p:nvPr>
            <p:ph idx="1"/>
          </p:nvPr>
        </p:nvSpPr>
        <p:spPr/>
        <p:txBody>
          <a:bodyPr>
            <a:normAutofit fontScale="92500" lnSpcReduction="20000"/>
          </a:bodyPr>
          <a:lstStyle/>
          <a:p>
            <a:pPr marL="0" indent="0">
              <a:buNone/>
            </a:pPr>
            <a:r>
              <a:rPr lang="fr-FR" dirty="0" err="1"/>
              <a:t>Podman</a:t>
            </a:r>
            <a:r>
              <a:rPr lang="fr-FR" dirty="0"/>
              <a:t> (docker) (étudié en S4) :</a:t>
            </a:r>
          </a:p>
          <a:p>
            <a:r>
              <a:rPr lang="fr-FR" dirty="0"/>
              <a:t>permet la conteneurisation</a:t>
            </a:r>
          </a:p>
          <a:p>
            <a:pPr lvl="1"/>
            <a:r>
              <a:rPr lang="fr-FR" dirty="0"/>
              <a:t>Un fichier de base docker-</a:t>
            </a:r>
            <a:r>
              <a:rPr lang="fr-FR" dirty="0" err="1"/>
              <a:t>compose.yaml</a:t>
            </a:r>
            <a:r>
              <a:rPr lang="fr-FR" dirty="0"/>
              <a:t> un outil de définition et d'exécution d'applications multi-conteneurs</a:t>
            </a:r>
          </a:p>
          <a:p>
            <a:pPr lvl="1"/>
            <a:r>
              <a:rPr lang="fr-FR" dirty="0"/>
              <a:t>Un fichier spécifique pour créer une image docker </a:t>
            </a:r>
            <a:r>
              <a:rPr lang="fr-FR" dirty="0" err="1"/>
              <a:t>tomcat</a:t>
            </a:r>
            <a:r>
              <a:rPr lang="fr-FR" dirty="0"/>
              <a:t>/</a:t>
            </a:r>
            <a:r>
              <a:rPr lang="fr-FR" dirty="0" err="1"/>
              <a:t>dockerfile</a:t>
            </a:r>
            <a:endParaRPr lang="fr-FR" dirty="0"/>
          </a:p>
          <a:p>
            <a:r>
              <a:rPr lang="fr-FR" dirty="0"/>
              <a:t>Des scripts contenant des commandes de base</a:t>
            </a:r>
          </a:p>
          <a:p>
            <a:pPr lvl="1"/>
            <a:r>
              <a:rPr lang="fr-FR" dirty="0"/>
              <a:t>./</a:t>
            </a:r>
            <a:r>
              <a:rPr lang="fr-FR" dirty="0" err="1"/>
              <a:t>create.sh</a:t>
            </a:r>
            <a:r>
              <a:rPr lang="fr-FR" dirty="0"/>
              <a:t> : création du conteneur nommé </a:t>
            </a:r>
            <a:r>
              <a:rPr lang="fr-FR" dirty="0" err="1"/>
              <a:t>tomcat_container</a:t>
            </a:r>
            <a:r>
              <a:rPr lang="fr-FR" dirty="0"/>
              <a:t> qui fait tourner un </a:t>
            </a:r>
            <a:r>
              <a:rPr lang="fr-FR" dirty="0" err="1"/>
              <a:t>tomcat</a:t>
            </a:r>
            <a:r>
              <a:rPr lang="fr-FR" dirty="0"/>
              <a:t>, le port exposé est 8888 et le répertoire local </a:t>
            </a:r>
            <a:r>
              <a:rPr lang="fr-FR" dirty="0" err="1"/>
              <a:t>tomcat</a:t>
            </a:r>
            <a:r>
              <a:rPr lang="fr-FR" dirty="0"/>
              <a:t>/</a:t>
            </a:r>
            <a:r>
              <a:rPr lang="fr-FR" dirty="0" err="1"/>
              <a:t>webapps</a:t>
            </a:r>
            <a:r>
              <a:rPr lang="fr-FR" dirty="0"/>
              <a:t> est monté dans le conteneur /</a:t>
            </a:r>
            <a:r>
              <a:rPr lang="fr-FR" dirty="0" err="1"/>
              <a:t>usr</a:t>
            </a:r>
            <a:r>
              <a:rPr lang="fr-FR" dirty="0"/>
              <a:t>/local/</a:t>
            </a:r>
            <a:r>
              <a:rPr lang="fr-FR" dirty="0" err="1"/>
              <a:t>tomcat</a:t>
            </a:r>
            <a:r>
              <a:rPr lang="fr-FR" dirty="0"/>
              <a:t>/</a:t>
            </a:r>
            <a:r>
              <a:rPr lang="fr-FR" dirty="0" err="1"/>
              <a:t>webapps</a:t>
            </a:r>
            <a:endParaRPr lang="fr-FR" dirty="0"/>
          </a:p>
          <a:p>
            <a:pPr lvl="1"/>
            <a:endParaRPr lang="fr-FR" dirty="0"/>
          </a:p>
          <a:p>
            <a:pPr lvl="1"/>
            <a:r>
              <a:rPr lang="fr-FR" dirty="0"/>
              <a:t>./</a:t>
            </a:r>
            <a:r>
              <a:rPr lang="fr-FR" dirty="0" err="1"/>
              <a:t>down.sh</a:t>
            </a:r>
            <a:r>
              <a:rPr lang="fr-FR" dirty="0"/>
              <a:t> : pour tomber le conteneur</a:t>
            </a:r>
          </a:p>
          <a:p>
            <a:pPr lvl="1"/>
            <a:r>
              <a:rPr lang="fr-FR" dirty="0"/>
              <a:t>./</a:t>
            </a:r>
            <a:r>
              <a:rPr lang="fr-FR" dirty="0" err="1"/>
              <a:t>terminal.sh</a:t>
            </a:r>
            <a:r>
              <a:rPr lang="fr-FR" dirty="0"/>
              <a:t> : pour obtenir un terminal dans le conteneur</a:t>
            </a:r>
          </a:p>
          <a:p>
            <a:pPr lvl="1"/>
            <a:r>
              <a:rPr lang="fr-FR" dirty="0" err="1"/>
              <a:t>podman</a:t>
            </a:r>
            <a:r>
              <a:rPr lang="fr-FR" dirty="0"/>
              <a:t> logs </a:t>
            </a:r>
            <a:r>
              <a:rPr lang="fr-FR" dirty="0" err="1"/>
              <a:t>tomcat_container</a:t>
            </a:r>
            <a:r>
              <a:rPr lang="fr-FR" dirty="0"/>
              <a:t> pour </a:t>
            </a:r>
            <a:r>
              <a:rPr lang="fr-FR" dirty="0" err="1"/>
              <a:t>accèder</a:t>
            </a:r>
            <a:r>
              <a:rPr lang="fr-FR" dirty="0"/>
              <a:t> aux logs du conteneur</a:t>
            </a:r>
          </a:p>
        </p:txBody>
      </p:sp>
    </p:spTree>
    <p:extLst>
      <p:ext uri="{BB962C8B-B14F-4D97-AF65-F5344CB8AC3E}">
        <p14:creationId xmlns:p14="http://schemas.microsoft.com/office/powerpoint/2010/main" val="1882709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43989-E9B8-04EB-411F-C3B93C86FF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332B81-429E-31EE-28D4-1C5928B5C56F}"/>
              </a:ext>
            </a:extLst>
          </p:cNvPr>
          <p:cNvSpPr>
            <a:spLocks noGrp="1"/>
          </p:cNvSpPr>
          <p:nvPr>
            <p:ph type="title"/>
          </p:nvPr>
        </p:nvSpPr>
        <p:spPr/>
        <p:txBody>
          <a:bodyPr/>
          <a:lstStyle/>
          <a:p>
            <a:r>
              <a:rPr lang="fr-FR" dirty="0"/>
              <a:t>Déploiement sur un </a:t>
            </a:r>
            <a:r>
              <a:rPr lang="fr-FR" dirty="0" err="1"/>
              <a:t>tomcat</a:t>
            </a:r>
            <a:endParaRPr lang="fr-FR" dirty="0"/>
          </a:p>
        </p:txBody>
      </p:sp>
      <p:sp>
        <p:nvSpPr>
          <p:cNvPr id="3" name="Espace réservé du contenu 2">
            <a:extLst>
              <a:ext uri="{FF2B5EF4-FFF2-40B4-BE49-F238E27FC236}">
                <a16:creationId xmlns:a16="http://schemas.microsoft.com/office/drawing/2014/main" id="{99B401E8-A977-5A0E-54E7-138CAAEB4A9F}"/>
              </a:ext>
            </a:extLst>
          </p:cNvPr>
          <p:cNvSpPr>
            <a:spLocks noGrp="1"/>
          </p:cNvSpPr>
          <p:nvPr>
            <p:ph idx="1"/>
          </p:nvPr>
        </p:nvSpPr>
        <p:spPr/>
        <p:txBody>
          <a:bodyPr>
            <a:normAutofit/>
          </a:bodyPr>
          <a:lstStyle/>
          <a:p>
            <a:r>
              <a:rPr lang="fr-FR" dirty="0"/>
              <a:t>War (Web </a:t>
            </a:r>
            <a:r>
              <a:rPr lang="fr-FR" dirty="0" err="1"/>
              <a:t>ARchive</a:t>
            </a:r>
            <a:r>
              <a:rPr lang="fr-FR" dirty="0"/>
              <a:t>)</a:t>
            </a:r>
          </a:p>
          <a:p>
            <a:pPr lvl="1"/>
            <a:r>
              <a:rPr lang="fr-FR" dirty="0"/>
              <a:t>À générer et a déposer dans le répertoire </a:t>
            </a:r>
            <a:r>
              <a:rPr lang="fr-FR" dirty="0" err="1"/>
              <a:t>webapps</a:t>
            </a:r>
            <a:r>
              <a:rPr lang="fr-FR" dirty="0"/>
              <a:t> de </a:t>
            </a:r>
            <a:r>
              <a:rPr lang="fr-FR" dirty="0" err="1"/>
              <a:t>tomcat</a:t>
            </a:r>
            <a:r>
              <a:rPr lang="fr-FR" dirty="0"/>
              <a:t> (pas besoin de redémarrer le serveur</a:t>
            </a:r>
          </a:p>
          <a:p>
            <a:r>
              <a:rPr lang="fr-FR" dirty="0"/>
              <a:t>Utiliser Tomcat Manager (à configurer </a:t>
            </a:r>
            <a:r>
              <a:rPr lang="fr-FR" dirty="0" err="1"/>
              <a:t>tomcat-users.xml</a:t>
            </a:r>
            <a:r>
              <a:rPr lang="fr-FR" dirty="0"/>
              <a:t>)</a:t>
            </a:r>
          </a:p>
          <a:p>
            <a:r>
              <a:rPr lang="fr-FR" dirty="0"/>
              <a:t>Passer par un CI/CD </a:t>
            </a:r>
          </a:p>
        </p:txBody>
      </p:sp>
    </p:spTree>
    <p:extLst>
      <p:ext uri="{BB962C8B-B14F-4D97-AF65-F5344CB8AC3E}">
        <p14:creationId xmlns:p14="http://schemas.microsoft.com/office/powerpoint/2010/main" val="2187978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3B0823-2A95-8573-C797-BF87D6AAD55C}"/>
              </a:ext>
            </a:extLst>
          </p:cNvPr>
          <p:cNvSpPr>
            <a:spLocks noGrp="1"/>
          </p:cNvSpPr>
          <p:nvPr>
            <p:ph type="title"/>
          </p:nvPr>
        </p:nvSpPr>
        <p:spPr/>
        <p:txBody>
          <a:bodyPr/>
          <a:lstStyle/>
          <a:p>
            <a:r>
              <a:rPr lang="fr-FR" dirty="0"/>
              <a:t>Compiler </a:t>
            </a:r>
            <a:r>
              <a:rPr lang="fr-FR" dirty="0" err="1"/>
              <a:t>build.gradle</a:t>
            </a:r>
            <a:br>
              <a:rPr lang="fr-FR" dirty="0"/>
            </a:br>
            <a:endParaRPr lang="fr-FR" dirty="0"/>
          </a:p>
        </p:txBody>
      </p:sp>
      <p:sp>
        <p:nvSpPr>
          <p:cNvPr id="3" name="Espace réservé du contenu 2">
            <a:extLst>
              <a:ext uri="{FF2B5EF4-FFF2-40B4-BE49-F238E27FC236}">
                <a16:creationId xmlns:a16="http://schemas.microsoft.com/office/drawing/2014/main" id="{00304CFD-46D0-DC00-72A9-171DD8C92D01}"/>
              </a:ext>
            </a:extLst>
          </p:cNvPr>
          <p:cNvSpPr>
            <a:spLocks noGrp="1"/>
          </p:cNvSpPr>
          <p:nvPr>
            <p:ph sz="half" idx="1"/>
          </p:nvPr>
        </p:nvSpPr>
        <p:spPr/>
        <p:txBody>
          <a:bodyPr>
            <a:normAutofit fontScale="92500" lnSpcReduction="20000"/>
          </a:bodyPr>
          <a:lstStyle/>
          <a:p>
            <a:pPr marL="0" indent="0">
              <a:buNone/>
            </a:pPr>
            <a:r>
              <a:rPr lang="fr-FR" dirty="0"/>
              <a:t>plugins {</a:t>
            </a:r>
          </a:p>
          <a:p>
            <a:pPr marL="0" indent="0">
              <a:buNone/>
            </a:pPr>
            <a:r>
              <a:rPr lang="fr-FR" dirty="0"/>
              <a:t>   id '</a:t>
            </a:r>
            <a:r>
              <a:rPr lang="fr-FR" dirty="0" err="1"/>
              <a:t>war</a:t>
            </a:r>
            <a:r>
              <a:rPr lang="fr-FR" dirty="0"/>
              <a:t>'</a:t>
            </a:r>
          </a:p>
          <a:p>
            <a:pPr marL="0" indent="0">
              <a:buNone/>
            </a:pPr>
            <a:r>
              <a:rPr lang="fr-FR" dirty="0"/>
              <a:t>}</a:t>
            </a:r>
          </a:p>
          <a:p>
            <a:pPr marL="0" indent="0">
              <a:buNone/>
            </a:pPr>
            <a:endParaRPr lang="fr-FR" dirty="0"/>
          </a:p>
          <a:p>
            <a:pPr marL="0" indent="0">
              <a:buNone/>
            </a:pPr>
            <a:r>
              <a:rPr lang="fr-FR" dirty="0"/>
              <a:t>group '</a:t>
            </a:r>
            <a:r>
              <a:rPr lang="fr-FR" dirty="0" err="1"/>
              <a:t>iut.nantes</a:t>
            </a:r>
            <a:r>
              <a:rPr lang="fr-FR" dirty="0"/>
              <a:t>'</a:t>
            </a:r>
          </a:p>
          <a:p>
            <a:pPr marL="0" indent="0">
              <a:buNone/>
            </a:pPr>
            <a:r>
              <a:rPr lang="fr-FR" dirty="0"/>
              <a:t>version '1.0-SNAPSHOT'</a:t>
            </a:r>
          </a:p>
          <a:p>
            <a:pPr marL="0" indent="0">
              <a:buNone/>
            </a:pPr>
            <a:endParaRPr lang="fr-FR" dirty="0"/>
          </a:p>
          <a:p>
            <a:pPr marL="0" indent="0">
              <a:buNone/>
            </a:pPr>
            <a:r>
              <a:rPr lang="fr-FR" dirty="0"/>
              <a:t>repositories {</a:t>
            </a:r>
          </a:p>
          <a:p>
            <a:pPr marL="0" indent="0">
              <a:buNone/>
            </a:pPr>
            <a:r>
              <a:rPr lang="fr-FR" dirty="0"/>
              <a:t>    </a:t>
            </a:r>
            <a:r>
              <a:rPr lang="fr-FR" dirty="0" err="1"/>
              <a:t>mavenCentral</a:t>
            </a:r>
            <a:r>
              <a:rPr lang="fr-FR" dirty="0"/>
              <a:t>()</a:t>
            </a:r>
          </a:p>
          <a:p>
            <a:pPr marL="0" indent="0">
              <a:buNone/>
            </a:pPr>
            <a:r>
              <a:rPr lang="fr-FR" dirty="0"/>
              <a:t>}</a:t>
            </a:r>
          </a:p>
          <a:p>
            <a:endParaRPr lang="fr-FR" dirty="0"/>
          </a:p>
          <a:p>
            <a:endParaRPr lang="fr-FR" dirty="0"/>
          </a:p>
          <a:p>
            <a:endParaRPr lang="fr-FR" dirty="0"/>
          </a:p>
        </p:txBody>
      </p:sp>
      <p:sp>
        <p:nvSpPr>
          <p:cNvPr id="4" name="Espace réservé du contenu 3">
            <a:extLst>
              <a:ext uri="{FF2B5EF4-FFF2-40B4-BE49-F238E27FC236}">
                <a16:creationId xmlns:a16="http://schemas.microsoft.com/office/drawing/2014/main" id="{6A6B1F39-A0DA-1DA5-E2D5-DC59388F11CE}"/>
              </a:ext>
            </a:extLst>
          </p:cNvPr>
          <p:cNvSpPr>
            <a:spLocks noGrp="1"/>
          </p:cNvSpPr>
          <p:nvPr>
            <p:ph sz="half" idx="2"/>
          </p:nvPr>
        </p:nvSpPr>
        <p:spPr/>
        <p:txBody>
          <a:bodyPr>
            <a:normAutofit fontScale="92500" lnSpcReduction="20000"/>
          </a:bodyPr>
          <a:lstStyle/>
          <a:p>
            <a:pPr marL="0" indent="0">
              <a:buNone/>
            </a:pPr>
            <a:r>
              <a:rPr lang="fr-FR" dirty="0"/>
              <a:t>java {</a:t>
            </a:r>
          </a:p>
          <a:p>
            <a:pPr marL="0" indent="0">
              <a:buNone/>
            </a:pPr>
            <a:r>
              <a:rPr lang="fr-FR" dirty="0"/>
              <a:t>    </a:t>
            </a:r>
            <a:r>
              <a:rPr lang="fr-FR" dirty="0" err="1"/>
              <a:t>sourceCompatibility</a:t>
            </a:r>
            <a:r>
              <a:rPr lang="fr-FR" dirty="0"/>
              <a:t> = JavaVersion.VERSION_21</a:t>
            </a:r>
          </a:p>
          <a:p>
            <a:pPr marL="0" indent="0">
              <a:buNone/>
            </a:pPr>
            <a:r>
              <a:rPr lang="fr-FR" dirty="0"/>
              <a:t>    </a:t>
            </a:r>
            <a:r>
              <a:rPr lang="fr-FR" dirty="0" err="1"/>
              <a:t>targetCompatibility</a:t>
            </a:r>
            <a:r>
              <a:rPr lang="fr-FR" dirty="0"/>
              <a:t> = JavaVersion.VERSION_21</a:t>
            </a:r>
          </a:p>
          <a:p>
            <a:pPr marL="0" indent="0">
              <a:buNone/>
            </a:pPr>
            <a:r>
              <a:rPr lang="fr-FR" dirty="0"/>
              <a:t>}</a:t>
            </a:r>
          </a:p>
          <a:p>
            <a:pPr marL="0" indent="0">
              <a:buNone/>
            </a:pPr>
            <a:endParaRPr lang="fr-FR" dirty="0"/>
          </a:p>
          <a:p>
            <a:pPr marL="0" indent="0">
              <a:buNone/>
            </a:pPr>
            <a:endParaRPr lang="fr-FR" dirty="0"/>
          </a:p>
          <a:p>
            <a:pPr marL="0" indent="0">
              <a:buNone/>
            </a:pPr>
            <a:r>
              <a:rPr lang="fr-FR" dirty="0" err="1"/>
              <a:t>tasks.withType</a:t>
            </a:r>
            <a:r>
              <a:rPr lang="fr-FR" dirty="0"/>
              <a:t>(</a:t>
            </a:r>
            <a:r>
              <a:rPr lang="fr-FR" dirty="0" err="1"/>
              <a:t>JavaCompile</a:t>
            </a:r>
            <a:r>
              <a:rPr lang="fr-FR" dirty="0"/>
              <a:t>) {</a:t>
            </a:r>
          </a:p>
          <a:p>
            <a:pPr marL="0" indent="0">
              <a:buNone/>
            </a:pPr>
            <a:r>
              <a:rPr lang="fr-FR" dirty="0"/>
              <a:t>    </a:t>
            </a:r>
            <a:r>
              <a:rPr lang="fr-FR" dirty="0" err="1"/>
              <a:t>options.encoding</a:t>
            </a:r>
            <a:r>
              <a:rPr lang="fr-FR" dirty="0"/>
              <a:t> = 'UTF-8'</a:t>
            </a:r>
          </a:p>
          <a:p>
            <a:pPr marL="0" indent="0">
              <a:buNone/>
            </a:pPr>
            <a:r>
              <a:rPr lang="fr-FR" dirty="0"/>
              <a:t>}</a:t>
            </a:r>
          </a:p>
        </p:txBody>
      </p:sp>
    </p:spTree>
    <p:extLst>
      <p:ext uri="{BB962C8B-B14F-4D97-AF65-F5344CB8AC3E}">
        <p14:creationId xmlns:p14="http://schemas.microsoft.com/office/powerpoint/2010/main" val="1993156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46CBD-2AE4-0317-42D8-B888C3A3B20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0EC8FC4-7231-EF5B-4B33-F81DC095A48B}"/>
              </a:ext>
            </a:extLst>
          </p:cNvPr>
          <p:cNvSpPr>
            <a:spLocks noGrp="1"/>
          </p:cNvSpPr>
          <p:nvPr>
            <p:ph type="title"/>
          </p:nvPr>
        </p:nvSpPr>
        <p:spPr/>
        <p:txBody>
          <a:bodyPr/>
          <a:lstStyle/>
          <a:p>
            <a:r>
              <a:rPr lang="fr-FR" dirty="0"/>
              <a:t>Compiler </a:t>
            </a:r>
            <a:r>
              <a:rPr lang="fr-FR" dirty="0" err="1"/>
              <a:t>build.gradle</a:t>
            </a:r>
            <a:br>
              <a:rPr lang="fr-FR" dirty="0"/>
            </a:br>
            <a:endParaRPr lang="fr-FR" dirty="0"/>
          </a:p>
        </p:txBody>
      </p:sp>
      <p:sp>
        <p:nvSpPr>
          <p:cNvPr id="3" name="Espace réservé du contenu 2">
            <a:extLst>
              <a:ext uri="{FF2B5EF4-FFF2-40B4-BE49-F238E27FC236}">
                <a16:creationId xmlns:a16="http://schemas.microsoft.com/office/drawing/2014/main" id="{972758D7-167B-88B7-915F-AAF645ECC07B}"/>
              </a:ext>
            </a:extLst>
          </p:cNvPr>
          <p:cNvSpPr>
            <a:spLocks noGrp="1"/>
          </p:cNvSpPr>
          <p:nvPr>
            <p:ph idx="1"/>
          </p:nvPr>
        </p:nvSpPr>
        <p:spPr/>
        <p:txBody>
          <a:bodyPr>
            <a:normAutofit/>
          </a:bodyPr>
          <a:lstStyle/>
          <a:p>
            <a:pPr marL="0" indent="0">
              <a:buNone/>
            </a:pPr>
            <a:r>
              <a:rPr lang="fr-FR" dirty="0" err="1"/>
              <a:t>dependencies</a:t>
            </a:r>
            <a:r>
              <a:rPr lang="fr-FR" dirty="0"/>
              <a:t> {</a:t>
            </a:r>
          </a:p>
          <a:p>
            <a:pPr marL="0" indent="0">
              <a:buNone/>
            </a:pPr>
            <a:r>
              <a:rPr lang="fr-FR" dirty="0"/>
              <a:t>    </a:t>
            </a:r>
            <a:r>
              <a:rPr lang="fr-FR" dirty="0" err="1"/>
              <a:t>compileOnly</a:t>
            </a:r>
            <a:r>
              <a:rPr lang="fr-FR" dirty="0"/>
              <a:t>('jakarta.servlet:jakarta.servlet-api:6.2.0-M2')</a:t>
            </a:r>
          </a:p>
          <a:p>
            <a:pPr marL="0" indent="0">
              <a:buNone/>
            </a:pPr>
            <a:endParaRPr lang="fr-FR" dirty="0"/>
          </a:p>
          <a:p>
            <a:pPr marL="0" indent="0">
              <a:buNone/>
            </a:pPr>
            <a:r>
              <a:rPr lang="fr-FR" dirty="0"/>
              <a:t>}</a:t>
            </a:r>
          </a:p>
          <a:p>
            <a:pPr marL="0" indent="0">
              <a:buNone/>
            </a:pPr>
            <a:endParaRPr lang="fr-FR" dirty="0"/>
          </a:p>
          <a:p>
            <a:pPr marL="0" indent="0">
              <a:buNone/>
            </a:pPr>
            <a:r>
              <a:rPr lang="fr-FR" dirty="0" err="1"/>
              <a:t>war</a:t>
            </a:r>
            <a:r>
              <a:rPr lang="fr-FR" dirty="0"/>
              <a:t> {</a:t>
            </a:r>
          </a:p>
          <a:p>
            <a:pPr marL="0" indent="0">
              <a:buNone/>
            </a:pPr>
            <a:r>
              <a:rPr lang="fr-FR" dirty="0"/>
              <a:t>    </a:t>
            </a:r>
            <a:r>
              <a:rPr lang="fr-FR" dirty="0" err="1"/>
              <a:t>archiveFileName</a:t>
            </a:r>
            <a:r>
              <a:rPr lang="fr-FR" dirty="0"/>
              <a:t> = '</a:t>
            </a:r>
            <a:r>
              <a:rPr lang="fr-FR" dirty="0" err="1"/>
              <a:t>demo.war</a:t>
            </a:r>
            <a:r>
              <a:rPr lang="fr-FR" dirty="0"/>
              <a:t>'</a:t>
            </a:r>
          </a:p>
          <a:p>
            <a:pPr marL="0" indent="0">
              <a:buNone/>
            </a:pPr>
            <a:r>
              <a:rPr lang="fr-FR" dirty="0"/>
              <a:t>}</a:t>
            </a:r>
          </a:p>
          <a:p>
            <a:endParaRPr lang="fr-FR" dirty="0"/>
          </a:p>
          <a:p>
            <a:endParaRPr lang="fr-FR" dirty="0"/>
          </a:p>
        </p:txBody>
      </p:sp>
    </p:spTree>
    <p:extLst>
      <p:ext uri="{BB962C8B-B14F-4D97-AF65-F5344CB8AC3E}">
        <p14:creationId xmlns:p14="http://schemas.microsoft.com/office/powerpoint/2010/main" val="1555833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874C7-FF25-0CBE-14BE-3AD55DC4C82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0650351-7D74-D10C-3832-D8EC5906BA0E}"/>
              </a:ext>
            </a:extLst>
          </p:cNvPr>
          <p:cNvSpPr>
            <a:spLocks noGrp="1"/>
          </p:cNvSpPr>
          <p:nvPr>
            <p:ph type="title"/>
          </p:nvPr>
        </p:nvSpPr>
        <p:spPr/>
        <p:txBody>
          <a:bodyPr/>
          <a:lstStyle/>
          <a:p>
            <a:r>
              <a:rPr lang="fr-FR" dirty="0"/>
              <a:t>Compiler </a:t>
            </a:r>
            <a:r>
              <a:rPr lang="fr-FR" dirty="0" err="1"/>
              <a:t>build.gradle</a:t>
            </a:r>
            <a:br>
              <a:rPr lang="fr-FR" dirty="0"/>
            </a:br>
            <a:endParaRPr lang="fr-FR" dirty="0"/>
          </a:p>
        </p:txBody>
      </p:sp>
      <p:sp>
        <p:nvSpPr>
          <p:cNvPr id="3" name="Espace réservé du contenu 2">
            <a:extLst>
              <a:ext uri="{FF2B5EF4-FFF2-40B4-BE49-F238E27FC236}">
                <a16:creationId xmlns:a16="http://schemas.microsoft.com/office/drawing/2014/main" id="{9F9FC622-69D2-1534-7176-4EA287B155F4}"/>
              </a:ext>
            </a:extLst>
          </p:cNvPr>
          <p:cNvSpPr>
            <a:spLocks noGrp="1"/>
          </p:cNvSpPr>
          <p:nvPr>
            <p:ph idx="1"/>
          </p:nvPr>
        </p:nvSpPr>
        <p:spPr/>
        <p:txBody>
          <a:bodyPr>
            <a:normAutofit fontScale="92500" lnSpcReduction="10000"/>
          </a:bodyPr>
          <a:lstStyle/>
          <a:p>
            <a:pPr marL="0" indent="0">
              <a:buNone/>
            </a:pPr>
            <a:r>
              <a:rPr lang="fr-FR" dirty="0" err="1"/>
              <a:t>tasks.register</a:t>
            </a:r>
            <a:r>
              <a:rPr lang="fr-FR" dirty="0"/>
              <a:t>('</a:t>
            </a:r>
            <a:r>
              <a:rPr lang="fr-FR" dirty="0" err="1"/>
              <a:t>deleteMyWar</a:t>
            </a:r>
            <a:r>
              <a:rPr lang="fr-FR" dirty="0"/>
              <a:t>',</a:t>
            </a:r>
            <a:r>
              <a:rPr lang="fr-FR" dirty="0" err="1"/>
              <a:t>Delete</a:t>
            </a:r>
            <a:r>
              <a:rPr lang="fr-FR" dirty="0"/>
              <a:t>) {</a:t>
            </a:r>
          </a:p>
          <a:p>
            <a:pPr marL="0" indent="0">
              <a:buNone/>
            </a:pPr>
            <a:endParaRPr lang="fr-FR" dirty="0"/>
          </a:p>
          <a:p>
            <a:pPr marL="0" indent="0">
              <a:buNone/>
            </a:pPr>
            <a:r>
              <a:rPr lang="fr-FR" dirty="0"/>
              <a:t>    </a:t>
            </a:r>
            <a:r>
              <a:rPr lang="fr-FR" dirty="0" err="1"/>
              <a:t>doLast</a:t>
            </a:r>
            <a:r>
              <a:rPr lang="fr-FR" dirty="0"/>
              <a:t> {</a:t>
            </a:r>
          </a:p>
          <a:p>
            <a:pPr marL="0" indent="0">
              <a:buNone/>
            </a:pPr>
            <a:r>
              <a:rPr lang="fr-FR" dirty="0"/>
              <a:t>        </a:t>
            </a:r>
            <a:r>
              <a:rPr lang="fr-FR" dirty="0" err="1"/>
              <a:t>println</a:t>
            </a:r>
            <a:r>
              <a:rPr lang="fr-FR" dirty="0"/>
              <a:t>("Suppression du </a:t>
            </a:r>
            <a:r>
              <a:rPr lang="fr-FR" dirty="0" err="1"/>
              <a:t>war</a:t>
            </a:r>
            <a:r>
              <a:rPr lang="fr-FR" dirty="0"/>
              <a:t> : ./</a:t>
            </a:r>
            <a:r>
              <a:rPr lang="fr-FR" dirty="0" err="1"/>
              <a:t>tomcat</a:t>
            </a:r>
            <a:r>
              <a:rPr lang="fr-FR" dirty="0"/>
              <a:t>/</a:t>
            </a:r>
            <a:r>
              <a:rPr lang="fr-FR" dirty="0" err="1"/>
              <a:t>webapps</a:t>
            </a:r>
            <a:r>
              <a:rPr lang="fr-FR" dirty="0"/>
              <a:t>/${</a:t>
            </a:r>
            <a:r>
              <a:rPr lang="fr-FR" dirty="0" err="1"/>
              <a:t>war.archiveFileName.get</a:t>
            </a:r>
            <a:r>
              <a:rPr lang="fr-FR" dirty="0"/>
              <a:t>()}")</a:t>
            </a:r>
          </a:p>
          <a:p>
            <a:pPr marL="0" indent="0">
              <a:buNone/>
            </a:pPr>
            <a:r>
              <a:rPr lang="fr-FR" dirty="0"/>
              <a:t>        </a:t>
            </a:r>
            <a:r>
              <a:rPr lang="fr-FR" dirty="0" err="1"/>
              <a:t>println</a:t>
            </a:r>
            <a:r>
              <a:rPr lang="fr-FR" dirty="0"/>
              <a:t>("Done")</a:t>
            </a:r>
          </a:p>
          <a:p>
            <a:pPr marL="0" indent="0">
              <a:buNone/>
            </a:pPr>
            <a:r>
              <a:rPr lang="fr-FR" dirty="0"/>
              <a:t>    }</a:t>
            </a:r>
          </a:p>
          <a:p>
            <a:pPr marL="0" indent="0">
              <a:buNone/>
            </a:pPr>
            <a:r>
              <a:rPr lang="fr-FR" dirty="0"/>
              <a:t>    </a:t>
            </a:r>
            <a:r>
              <a:rPr lang="fr-FR" dirty="0" err="1"/>
              <a:t>delete</a:t>
            </a:r>
            <a:r>
              <a:rPr lang="fr-FR" dirty="0"/>
              <a:t> files("./</a:t>
            </a:r>
            <a:r>
              <a:rPr lang="fr-FR" dirty="0" err="1"/>
              <a:t>tomcat</a:t>
            </a:r>
            <a:r>
              <a:rPr lang="fr-FR" dirty="0"/>
              <a:t>/</a:t>
            </a:r>
            <a:r>
              <a:rPr lang="fr-FR" dirty="0" err="1"/>
              <a:t>webapps</a:t>
            </a:r>
            <a:r>
              <a:rPr lang="fr-FR" dirty="0"/>
              <a:t>/${</a:t>
            </a:r>
            <a:r>
              <a:rPr lang="fr-FR" dirty="0" err="1"/>
              <a:t>war.archiveFileName.get</a:t>
            </a:r>
            <a:r>
              <a:rPr lang="fr-FR" dirty="0"/>
              <a:t>()}")</a:t>
            </a:r>
          </a:p>
          <a:p>
            <a:pPr marL="0" indent="0">
              <a:buNone/>
            </a:pPr>
            <a:endParaRPr lang="fr-FR" dirty="0"/>
          </a:p>
          <a:p>
            <a:pPr marL="0" indent="0">
              <a:buNone/>
            </a:pPr>
            <a:r>
              <a:rPr lang="fr-FR" dirty="0"/>
              <a:t>}</a:t>
            </a:r>
          </a:p>
        </p:txBody>
      </p:sp>
    </p:spTree>
    <p:extLst>
      <p:ext uri="{BB962C8B-B14F-4D97-AF65-F5344CB8AC3E}">
        <p14:creationId xmlns:p14="http://schemas.microsoft.com/office/powerpoint/2010/main" val="2408422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B8D35-E586-2325-C638-AA036D7AF73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9DC0D67-A70C-D014-9ABC-F2734C76905B}"/>
              </a:ext>
            </a:extLst>
          </p:cNvPr>
          <p:cNvSpPr>
            <a:spLocks noGrp="1"/>
          </p:cNvSpPr>
          <p:nvPr>
            <p:ph type="title"/>
          </p:nvPr>
        </p:nvSpPr>
        <p:spPr/>
        <p:txBody>
          <a:bodyPr/>
          <a:lstStyle/>
          <a:p>
            <a:r>
              <a:rPr lang="fr-FR" dirty="0"/>
              <a:t>Compiler </a:t>
            </a:r>
            <a:r>
              <a:rPr lang="fr-FR" dirty="0" err="1"/>
              <a:t>build.gradle</a:t>
            </a:r>
            <a:br>
              <a:rPr lang="fr-FR" dirty="0"/>
            </a:br>
            <a:endParaRPr lang="fr-FR" dirty="0"/>
          </a:p>
        </p:txBody>
      </p:sp>
      <p:sp>
        <p:nvSpPr>
          <p:cNvPr id="3" name="Espace réservé du contenu 2">
            <a:extLst>
              <a:ext uri="{FF2B5EF4-FFF2-40B4-BE49-F238E27FC236}">
                <a16:creationId xmlns:a16="http://schemas.microsoft.com/office/drawing/2014/main" id="{145D4337-F4CB-C972-E9BE-8C2F327859BF}"/>
              </a:ext>
            </a:extLst>
          </p:cNvPr>
          <p:cNvSpPr>
            <a:spLocks noGrp="1"/>
          </p:cNvSpPr>
          <p:nvPr>
            <p:ph idx="1"/>
          </p:nvPr>
        </p:nvSpPr>
        <p:spPr/>
        <p:txBody>
          <a:bodyPr>
            <a:normAutofit fontScale="85000" lnSpcReduction="20000"/>
          </a:bodyPr>
          <a:lstStyle/>
          <a:p>
            <a:pPr marL="0" indent="0">
              <a:buNone/>
            </a:pPr>
            <a:r>
              <a:rPr lang="fr-FR" dirty="0" err="1"/>
              <a:t>tasks.register</a:t>
            </a:r>
            <a:r>
              <a:rPr lang="fr-FR" dirty="0"/>
              <a:t>('</a:t>
            </a:r>
            <a:r>
              <a:rPr lang="fr-FR" dirty="0" err="1"/>
              <a:t>copyMyWar</a:t>
            </a:r>
            <a:r>
              <a:rPr lang="fr-FR" dirty="0"/>
              <a:t>',Copy){</a:t>
            </a:r>
          </a:p>
          <a:p>
            <a:pPr marL="0" indent="0">
              <a:buNone/>
            </a:pPr>
            <a:endParaRPr lang="fr-FR" dirty="0"/>
          </a:p>
          <a:p>
            <a:pPr marL="0" indent="0">
              <a:buNone/>
            </a:pPr>
            <a:r>
              <a:rPr lang="fr-FR" dirty="0"/>
              <a:t>    </a:t>
            </a:r>
            <a:r>
              <a:rPr lang="fr-FR" dirty="0" err="1"/>
              <a:t>doLast</a:t>
            </a:r>
            <a:r>
              <a:rPr lang="fr-FR" dirty="0"/>
              <a:t> {</a:t>
            </a:r>
          </a:p>
          <a:p>
            <a:pPr marL="0" indent="0">
              <a:buNone/>
            </a:pPr>
            <a:r>
              <a:rPr lang="fr-FR" dirty="0"/>
              <a:t>        </a:t>
            </a:r>
            <a:r>
              <a:rPr lang="fr-FR" dirty="0" err="1"/>
              <a:t>println</a:t>
            </a:r>
            <a:r>
              <a:rPr lang="fr-FR" dirty="0"/>
              <a:t>("Copy ${</a:t>
            </a:r>
            <a:r>
              <a:rPr lang="fr-FR" dirty="0" err="1"/>
              <a:t>war.archiveFileName.get</a:t>
            </a:r>
            <a:r>
              <a:rPr lang="fr-FR" dirty="0"/>
              <a:t>()} </a:t>
            </a:r>
            <a:r>
              <a:rPr lang="fr-FR" dirty="0" err="1"/>
              <a:t>from</a:t>
            </a:r>
            <a:r>
              <a:rPr lang="fr-FR" dirty="0"/>
              <a:t> ${</a:t>
            </a:r>
            <a:r>
              <a:rPr lang="fr-FR" dirty="0" err="1"/>
              <a:t>project.buildDir</a:t>
            </a:r>
            <a:r>
              <a:rPr lang="fr-FR" dirty="0"/>
              <a:t>}/</a:t>
            </a:r>
            <a:r>
              <a:rPr lang="fr-FR" dirty="0" err="1"/>
              <a:t>libs</a:t>
            </a:r>
            <a:r>
              <a:rPr lang="fr-FR" dirty="0"/>
              <a:t> to ./</a:t>
            </a:r>
            <a:r>
              <a:rPr lang="fr-FR" dirty="0" err="1"/>
              <a:t>tomcat</a:t>
            </a:r>
            <a:r>
              <a:rPr lang="fr-FR" dirty="0"/>
              <a:t>/</a:t>
            </a:r>
            <a:r>
              <a:rPr lang="fr-FR" dirty="0" err="1"/>
              <a:t>webapps</a:t>
            </a:r>
            <a:r>
              <a:rPr lang="fr-FR" dirty="0"/>
              <a:t>")</a:t>
            </a:r>
          </a:p>
          <a:p>
            <a:pPr marL="0" indent="0">
              <a:buNone/>
            </a:pPr>
            <a:r>
              <a:rPr lang="fr-FR" dirty="0"/>
              <a:t>        </a:t>
            </a:r>
            <a:r>
              <a:rPr lang="fr-FR" dirty="0" err="1"/>
              <a:t>println</a:t>
            </a:r>
            <a:r>
              <a:rPr lang="fr-FR" dirty="0"/>
              <a:t>("Done")</a:t>
            </a:r>
          </a:p>
          <a:p>
            <a:pPr marL="0" indent="0">
              <a:buNone/>
            </a:pPr>
            <a:r>
              <a:rPr lang="fr-FR" dirty="0"/>
              <a:t>    }</a:t>
            </a:r>
          </a:p>
          <a:p>
            <a:pPr marL="0" indent="0">
              <a:buNone/>
            </a:pPr>
            <a:r>
              <a:rPr lang="fr-FR" dirty="0"/>
              <a:t>    </a:t>
            </a:r>
            <a:r>
              <a:rPr lang="fr-FR" dirty="0" err="1"/>
              <a:t>from</a:t>
            </a:r>
            <a:r>
              <a:rPr lang="fr-FR" dirty="0"/>
              <a:t> "${</a:t>
            </a:r>
            <a:r>
              <a:rPr lang="fr-FR" dirty="0" err="1"/>
              <a:t>project.buildDir</a:t>
            </a:r>
            <a:r>
              <a:rPr lang="fr-FR" dirty="0"/>
              <a:t>}/</a:t>
            </a:r>
            <a:r>
              <a:rPr lang="fr-FR" dirty="0" err="1"/>
              <a:t>libs</a:t>
            </a:r>
            <a:r>
              <a:rPr lang="fr-FR" dirty="0"/>
              <a:t>"</a:t>
            </a:r>
          </a:p>
          <a:p>
            <a:pPr marL="0" indent="0">
              <a:buNone/>
            </a:pPr>
            <a:r>
              <a:rPr lang="fr-FR" dirty="0"/>
              <a:t>    </a:t>
            </a:r>
            <a:r>
              <a:rPr lang="fr-FR" dirty="0" err="1"/>
              <a:t>into</a:t>
            </a:r>
            <a:r>
              <a:rPr lang="fr-FR" dirty="0"/>
              <a:t>  "./</a:t>
            </a:r>
            <a:r>
              <a:rPr lang="fr-FR" dirty="0" err="1"/>
              <a:t>tomcat</a:t>
            </a:r>
            <a:r>
              <a:rPr lang="fr-FR" dirty="0"/>
              <a:t>/</a:t>
            </a:r>
            <a:r>
              <a:rPr lang="fr-FR" dirty="0" err="1"/>
              <a:t>webapps</a:t>
            </a:r>
            <a:r>
              <a:rPr lang="fr-FR" dirty="0"/>
              <a:t>"</a:t>
            </a:r>
          </a:p>
          <a:p>
            <a:pPr marL="0" indent="0">
              <a:buNone/>
            </a:pPr>
            <a:r>
              <a:rPr lang="fr-FR" dirty="0"/>
              <a:t>    </a:t>
            </a:r>
            <a:r>
              <a:rPr lang="fr-FR" dirty="0" err="1"/>
              <a:t>include</a:t>
            </a:r>
            <a:r>
              <a:rPr lang="fr-FR" dirty="0"/>
              <a:t> "${</a:t>
            </a:r>
            <a:r>
              <a:rPr lang="fr-FR" dirty="0" err="1"/>
              <a:t>war.archiveFileName.get</a:t>
            </a:r>
            <a:r>
              <a:rPr lang="fr-FR" dirty="0"/>
              <a:t>()}"</a:t>
            </a:r>
          </a:p>
          <a:p>
            <a:pPr marL="0" indent="0">
              <a:buNone/>
            </a:pPr>
            <a:r>
              <a:rPr lang="fr-FR" dirty="0"/>
              <a:t>}</a:t>
            </a:r>
          </a:p>
        </p:txBody>
      </p:sp>
    </p:spTree>
    <p:extLst>
      <p:ext uri="{BB962C8B-B14F-4D97-AF65-F5344CB8AC3E}">
        <p14:creationId xmlns:p14="http://schemas.microsoft.com/office/powerpoint/2010/main" val="1478166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D4D150-DDB0-0765-1CB6-DC1F0E729A67}"/>
              </a:ext>
            </a:extLst>
          </p:cNvPr>
          <p:cNvSpPr>
            <a:spLocks noGrp="1"/>
          </p:cNvSpPr>
          <p:nvPr>
            <p:ph type="title"/>
          </p:nvPr>
        </p:nvSpPr>
        <p:spPr/>
        <p:txBody>
          <a:bodyPr/>
          <a:lstStyle/>
          <a:p>
            <a:r>
              <a:rPr lang="fr-FR" dirty="0"/>
              <a:t>À l’IUT </a:t>
            </a:r>
            <a:r>
              <a:rPr lang="fr-FR" dirty="0" err="1"/>
              <a:t>gradle.properties</a:t>
            </a:r>
            <a:endParaRPr lang="fr-FR" dirty="0"/>
          </a:p>
        </p:txBody>
      </p:sp>
      <p:sp>
        <p:nvSpPr>
          <p:cNvPr id="3" name="Espace réservé du contenu 2">
            <a:extLst>
              <a:ext uri="{FF2B5EF4-FFF2-40B4-BE49-F238E27FC236}">
                <a16:creationId xmlns:a16="http://schemas.microsoft.com/office/drawing/2014/main" id="{1A8AB5D7-FAF1-3994-BD21-603E36BB8EA1}"/>
              </a:ext>
            </a:extLst>
          </p:cNvPr>
          <p:cNvSpPr>
            <a:spLocks noGrp="1"/>
          </p:cNvSpPr>
          <p:nvPr>
            <p:ph idx="1"/>
          </p:nvPr>
        </p:nvSpPr>
        <p:spPr/>
        <p:txBody>
          <a:bodyPr/>
          <a:lstStyle/>
          <a:p>
            <a:pPr marL="0" indent="0">
              <a:buNone/>
            </a:pPr>
            <a:r>
              <a:rPr lang="fr-FR" dirty="0" err="1"/>
              <a:t>systemProp.http.proxyHost</a:t>
            </a:r>
            <a:r>
              <a:rPr lang="fr-FR" dirty="0"/>
              <a:t>=srv-proxy-etu-2.iut-nantes.univ-nantes.prive</a:t>
            </a:r>
          </a:p>
          <a:p>
            <a:pPr marL="0" indent="0">
              <a:buNone/>
            </a:pPr>
            <a:r>
              <a:rPr lang="fr-FR" dirty="0" err="1"/>
              <a:t>systemProp.http.proxyPort</a:t>
            </a:r>
            <a:r>
              <a:rPr lang="fr-FR" dirty="0"/>
              <a:t>=3128</a:t>
            </a:r>
          </a:p>
          <a:p>
            <a:pPr marL="0" indent="0">
              <a:buNone/>
            </a:pPr>
            <a:r>
              <a:rPr lang="fr-FR" dirty="0" err="1"/>
              <a:t>systemProp.https.proxyHost</a:t>
            </a:r>
            <a:r>
              <a:rPr lang="fr-FR" dirty="0"/>
              <a:t>=srv-proxy-etu-2.iut-nantes.univ-nantes.prive</a:t>
            </a:r>
          </a:p>
          <a:p>
            <a:pPr marL="0" indent="0">
              <a:buNone/>
            </a:pPr>
            <a:r>
              <a:rPr lang="fr-FR" dirty="0" err="1"/>
              <a:t>systemProp.https.proxyPort</a:t>
            </a:r>
            <a:r>
              <a:rPr lang="fr-FR" dirty="0"/>
              <a:t>=3128</a:t>
            </a:r>
          </a:p>
          <a:p>
            <a:endParaRPr lang="fr-FR" dirty="0"/>
          </a:p>
        </p:txBody>
      </p:sp>
    </p:spTree>
    <p:extLst>
      <p:ext uri="{BB962C8B-B14F-4D97-AF65-F5344CB8AC3E}">
        <p14:creationId xmlns:p14="http://schemas.microsoft.com/office/powerpoint/2010/main" val="38828667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48202D-807E-F06A-B48E-C64C2680B5EF}"/>
              </a:ext>
            </a:extLst>
          </p:cNvPr>
          <p:cNvSpPr>
            <a:spLocks noGrp="1"/>
          </p:cNvSpPr>
          <p:nvPr>
            <p:ph type="title"/>
          </p:nvPr>
        </p:nvSpPr>
        <p:spPr/>
        <p:txBody>
          <a:bodyPr/>
          <a:lstStyle/>
          <a:p>
            <a:r>
              <a:rPr lang="fr-FR" dirty="0" err="1"/>
              <a:t>gradle</a:t>
            </a:r>
            <a:endParaRPr lang="fr-FR" dirty="0"/>
          </a:p>
        </p:txBody>
      </p:sp>
      <p:sp>
        <p:nvSpPr>
          <p:cNvPr id="3" name="Espace réservé du contenu 2">
            <a:extLst>
              <a:ext uri="{FF2B5EF4-FFF2-40B4-BE49-F238E27FC236}">
                <a16:creationId xmlns:a16="http://schemas.microsoft.com/office/drawing/2014/main" id="{519B840B-FCC5-A6C1-EF3B-FD49C0A78B20}"/>
              </a:ext>
            </a:extLst>
          </p:cNvPr>
          <p:cNvSpPr>
            <a:spLocks noGrp="1"/>
          </p:cNvSpPr>
          <p:nvPr>
            <p:ph idx="1"/>
          </p:nvPr>
        </p:nvSpPr>
        <p:spPr/>
        <p:txBody>
          <a:bodyPr/>
          <a:lstStyle/>
          <a:p>
            <a:pPr marL="0" indent="0">
              <a:buNone/>
            </a:pPr>
            <a:r>
              <a:rPr lang="fr-FR" dirty="0"/>
              <a:t>./</a:t>
            </a:r>
            <a:r>
              <a:rPr lang="fr-FR" dirty="0" err="1"/>
              <a:t>gradlew</a:t>
            </a:r>
            <a:endParaRPr lang="fr-FR" dirty="0"/>
          </a:p>
          <a:p>
            <a:pPr marL="0" indent="0">
              <a:buNone/>
            </a:pPr>
            <a:endParaRPr lang="fr-FR" dirty="0"/>
          </a:p>
          <a:p>
            <a:pPr marL="0" indent="0">
              <a:buNone/>
            </a:pPr>
            <a:r>
              <a:rPr lang="fr-FR" dirty="0"/>
              <a:t>./</a:t>
            </a:r>
            <a:r>
              <a:rPr lang="fr-FR" dirty="0" err="1"/>
              <a:t>gradlew</a:t>
            </a:r>
            <a:r>
              <a:rPr lang="fr-FR" dirty="0"/>
              <a:t> </a:t>
            </a:r>
            <a:r>
              <a:rPr lang="fr-FR" dirty="0" err="1"/>
              <a:t>tasks</a:t>
            </a:r>
            <a:endParaRPr lang="fr-FR" dirty="0"/>
          </a:p>
          <a:p>
            <a:pPr marL="0" indent="0">
              <a:buNone/>
            </a:pPr>
            <a:endParaRPr lang="fr-FR" dirty="0"/>
          </a:p>
          <a:p>
            <a:pPr marL="0" indent="0">
              <a:buNone/>
            </a:pPr>
            <a:r>
              <a:rPr lang="fr-FR" dirty="0"/>
              <a:t>./</a:t>
            </a:r>
            <a:r>
              <a:rPr lang="fr-FR" dirty="0" err="1"/>
              <a:t>gradlew</a:t>
            </a:r>
            <a:r>
              <a:rPr lang="fr-FR" dirty="0"/>
              <a:t> </a:t>
            </a:r>
            <a:r>
              <a:rPr lang="fr-FR" dirty="0" err="1"/>
              <a:t>war</a:t>
            </a:r>
            <a:endParaRPr lang="fr-FR" dirty="0"/>
          </a:p>
          <a:p>
            <a:pPr marL="0" indent="0">
              <a:buNone/>
            </a:pPr>
            <a:r>
              <a:rPr lang="fr-FR" dirty="0"/>
              <a:t>./</a:t>
            </a:r>
            <a:r>
              <a:rPr lang="fr-FR" dirty="0" err="1"/>
              <a:t>gradlew</a:t>
            </a:r>
            <a:r>
              <a:rPr lang="fr-FR" dirty="0"/>
              <a:t> </a:t>
            </a:r>
            <a:r>
              <a:rPr lang="fr-FR" dirty="0" err="1"/>
              <a:t>deleteMyWar</a:t>
            </a:r>
            <a:endParaRPr lang="fr-FR" dirty="0"/>
          </a:p>
          <a:p>
            <a:pPr marL="0" indent="0">
              <a:buNone/>
            </a:pPr>
            <a:r>
              <a:rPr lang="fr-FR" dirty="0"/>
              <a:t>./</a:t>
            </a:r>
            <a:r>
              <a:rPr lang="fr-FR" dirty="0" err="1"/>
              <a:t>gradlew</a:t>
            </a:r>
            <a:r>
              <a:rPr lang="fr-FR" dirty="0"/>
              <a:t> </a:t>
            </a:r>
            <a:r>
              <a:rPr lang="fr-FR" dirty="0" err="1"/>
              <a:t>copyMyWar</a:t>
            </a:r>
            <a:endParaRPr lang="fr-FR" dirty="0"/>
          </a:p>
          <a:p>
            <a:pPr marL="0" indent="0">
              <a:buNone/>
            </a:pP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15657786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DA40A9-C56F-18DF-A704-D29128F91DFA}"/>
              </a:ext>
            </a:extLst>
          </p:cNvPr>
          <p:cNvSpPr>
            <a:spLocks noGrp="1"/>
          </p:cNvSpPr>
          <p:nvPr>
            <p:ph type="title"/>
          </p:nvPr>
        </p:nvSpPr>
        <p:spPr/>
        <p:txBody>
          <a:bodyPr/>
          <a:lstStyle/>
          <a:p>
            <a:r>
              <a:rPr lang="fr-FR" dirty="0"/>
              <a:t>Prochain CM</a:t>
            </a:r>
          </a:p>
        </p:txBody>
      </p:sp>
      <p:sp>
        <p:nvSpPr>
          <p:cNvPr id="3" name="Espace réservé du contenu 2">
            <a:extLst>
              <a:ext uri="{FF2B5EF4-FFF2-40B4-BE49-F238E27FC236}">
                <a16:creationId xmlns:a16="http://schemas.microsoft.com/office/drawing/2014/main" id="{1C323F13-AFC7-5919-A5D1-8B8D225767A0}"/>
              </a:ext>
            </a:extLst>
          </p:cNvPr>
          <p:cNvSpPr>
            <a:spLocks noGrp="1"/>
          </p:cNvSpPr>
          <p:nvPr>
            <p:ph idx="1"/>
          </p:nvPr>
        </p:nvSpPr>
        <p:spPr/>
        <p:txBody>
          <a:bodyPr/>
          <a:lstStyle/>
          <a:p>
            <a:pPr marL="0" indent="0">
              <a:buNone/>
            </a:pPr>
            <a:r>
              <a:rPr lang="fr-FR" dirty="0"/>
              <a:t>Les servlet en pratiques</a:t>
            </a:r>
          </a:p>
        </p:txBody>
      </p:sp>
    </p:spTree>
    <p:extLst>
      <p:ext uri="{BB962C8B-B14F-4D97-AF65-F5344CB8AC3E}">
        <p14:creationId xmlns:p14="http://schemas.microsoft.com/office/powerpoint/2010/main" val="196983037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2090</TotalTime>
  <Words>1509</Words>
  <Application>Microsoft Macintosh PowerPoint</Application>
  <PresentationFormat>Grand écran</PresentationFormat>
  <Paragraphs>294</Paragraphs>
  <Slides>29</Slides>
  <Notes>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29</vt:i4>
      </vt:variant>
    </vt:vector>
  </HeadingPairs>
  <TitlesOfParts>
    <vt:vector size="35" baseType="lpstr">
      <vt:lpstr>Arial</vt:lpstr>
      <vt:lpstr>Calibri</vt:lpstr>
      <vt:lpstr>Calibri Light</vt:lpstr>
      <vt:lpstr>JetBrains Mono</vt:lpstr>
      <vt:lpstr>Wingdings</vt:lpstr>
      <vt:lpstr>Thème Office</vt:lpstr>
      <vt:lpstr>R3.01</vt:lpstr>
      <vt:lpstr>Objectifs</vt:lpstr>
      <vt:lpstr>Choix Techniques</vt:lpstr>
      <vt:lpstr>Cours</vt:lpstr>
      <vt:lpstr>Les références</vt:lpstr>
      <vt:lpstr>Architecture Applicative – 1 tiers</vt:lpstr>
      <vt:lpstr>Architecture Applicative – 2 tiers</vt:lpstr>
      <vt:lpstr>Architecture Applicative – 3 tiers</vt:lpstr>
      <vt:lpstr>Architecture Applicative – n tiers</vt:lpstr>
      <vt:lpstr>Client serveur en java</vt:lpstr>
      <vt:lpstr>Client serveur </vt:lpstr>
      <vt:lpstr>Le protocole HTTP</vt:lpstr>
      <vt:lpstr>Le protocole HTTP : GET</vt:lpstr>
      <vt:lpstr>Le protocole HTTP : GET avec paramètres</vt:lpstr>
      <vt:lpstr>Le protocole HTTP : POST</vt:lpstr>
      <vt:lpstr>Le protocole HTTP : codes de réponse</vt:lpstr>
      <vt:lpstr>Le protocole HTTP : cookies</vt:lpstr>
      <vt:lpstr>Le protocole HTTP : cookies</vt:lpstr>
      <vt:lpstr>HttpServlet / Cookies </vt:lpstr>
      <vt:lpstr>Hello world</vt:lpstr>
      <vt:lpstr>Environnement d’exécution à l’IUT (podman)</vt:lpstr>
      <vt:lpstr>Déploiement sur un tomcat</vt:lpstr>
      <vt:lpstr>Compiler build.gradle </vt:lpstr>
      <vt:lpstr>Compiler build.gradle </vt:lpstr>
      <vt:lpstr>Compiler build.gradle </vt:lpstr>
      <vt:lpstr>Compiler build.gradle </vt:lpstr>
      <vt:lpstr>À l’IUT gradle.properties</vt:lpstr>
      <vt:lpstr>gradle</vt:lpstr>
      <vt:lpstr>Prochain CM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jub</dc:creator>
  <cp:lastModifiedBy>jub</cp:lastModifiedBy>
  <cp:revision>52</cp:revision>
  <dcterms:created xsi:type="dcterms:W3CDTF">2026-09-30T19:37:21Z</dcterms:created>
  <dcterms:modified xsi:type="dcterms:W3CDTF">2026-10-02T06:27:48Z</dcterms:modified>
</cp:coreProperties>
</file>