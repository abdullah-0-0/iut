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28"/>
  </p:notesMasterIdLst>
  <p:sldIdLst>
    <p:sldId id="256" r:id="rId2"/>
    <p:sldId id="257" r:id="rId3"/>
    <p:sldId id="290" r:id="rId4"/>
    <p:sldId id="262" r:id="rId5"/>
    <p:sldId id="259" r:id="rId6"/>
    <p:sldId id="260" r:id="rId7"/>
    <p:sldId id="279" r:id="rId8"/>
    <p:sldId id="282" r:id="rId9"/>
    <p:sldId id="287" r:id="rId10"/>
    <p:sldId id="284" r:id="rId11"/>
    <p:sldId id="261" r:id="rId12"/>
    <p:sldId id="301" r:id="rId13"/>
    <p:sldId id="278" r:id="rId14"/>
    <p:sldId id="267" r:id="rId15"/>
    <p:sldId id="268" r:id="rId16"/>
    <p:sldId id="302" r:id="rId17"/>
    <p:sldId id="280" r:id="rId18"/>
    <p:sldId id="296" r:id="rId19"/>
    <p:sldId id="295" r:id="rId20"/>
    <p:sldId id="289" r:id="rId21"/>
    <p:sldId id="271" r:id="rId22"/>
    <p:sldId id="272" r:id="rId23"/>
    <p:sldId id="275" r:id="rId24"/>
    <p:sldId id="286" r:id="rId25"/>
    <p:sldId id="276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41732-E3AD-4D95-98FB-20FA73F57532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1A125-DDD8-4A00-B22C-49247BD484A8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4711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1A125-DDD8-4A00-B22C-49247BD484A8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161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28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66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51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398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72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63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73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76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63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654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5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876DB89-59A3-4A3F-A975-B4CA49C2F978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ABAE6C-4C03-420D-9712-3A6CCC342B22}" type="slidenum">
              <a:rPr lang="en-AU" smtClean="0"/>
              <a:t>‹N°›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20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0B9ED0-6F8C-4C61-B633-999EFF0C2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R3.12 Employment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07C3A4-4E37-4848-8720-A36DB6DA94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Written application and job interview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69225B-F747-4F9D-8F22-BE9E456CA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64" y="972258"/>
            <a:ext cx="2662967" cy="69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14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2F765-9283-43C2-ABC1-0A7F1C9B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Module assignment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9535D3-4AEF-4957-BD12-B6DBBD5CF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Written test week 40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CV deadline 11/10 @ 11 pm on </a:t>
            </a:r>
            <a:r>
              <a:rPr lang="en-AU" dirty="0" err="1"/>
              <a:t>madoc</a:t>
            </a:r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Job interviews on weeks 42 &amp; 43- bring a paper copy of your CV</a:t>
            </a:r>
          </a:p>
        </p:txBody>
      </p:sp>
    </p:spTree>
    <p:extLst>
      <p:ext uri="{BB962C8B-B14F-4D97-AF65-F5344CB8AC3E}">
        <p14:creationId xmlns:p14="http://schemas.microsoft.com/office/powerpoint/2010/main" val="121119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2B9236-2F6D-4EFE-8757-27231399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The Basics</a:t>
            </a:r>
            <a:endParaRPr lang="en-AU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09D2B2-6892-4D86-988D-A37FC6F35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/>
              <a:t>CV: Resume or CV</a:t>
            </a:r>
          </a:p>
          <a:p>
            <a:r>
              <a:rPr lang="en-AU" dirty="0" err="1"/>
              <a:t>Lettre</a:t>
            </a:r>
            <a:r>
              <a:rPr lang="en-AU" dirty="0"/>
              <a:t> de motivation: Cover letter</a:t>
            </a:r>
          </a:p>
          <a:p>
            <a:r>
              <a:rPr lang="en-AU" dirty="0"/>
              <a:t>Candidature: Application</a:t>
            </a:r>
          </a:p>
          <a:p>
            <a:r>
              <a:rPr lang="en-AU" dirty="0" err="1"/>
              <a:t>Candidat</a:t>
            </a:r>
            <a:r>
              <a:rPr lang="en-AU" dirty="0"/>
              <a:t>: Applicant</a:t>
            </a:r>
          </a:p>
          <a:p>
            <a:r>
              <a:rPr lang="en-AU" dirty="0"/>
              <a:t>Poste: Position/ role</a:t>
            </a:r>
          </a:p>
          <a:p>
            <a:r>
              <a:rPr lang="en-AU" dirty="0"/>
              <a:t>Stage: Internship (a 3-month internship) or work placement (UK)</a:t>
            </a:r>
          </a:p>
          <a:p>
            <a:r>
              <a:rPr lang="en-AU" dirty="0"/>
              <a:t>Stagiaire: Intern</a:t>
            </a:r>
          </a:p>
          <a:p>
            <a:r>
              <a:rPr lang="en-AU" dirty="0" err="1"/>
              <a:t>Effectuer</a:t>
            </a:r>
            <a:r>
              <a:rPr lang="en-AU" dirty="0"/>
              <a:t> un stage: Carry out or complete an internship</a:t>
            </a:r>
          </a:p>
          <a:p>
            <a:r>
              <a:rPr lang="en-AU" dirty="0"/>
              <a:t>Une formation: A course</a:t>
            </a:r>
          </a:p>
          <a:p>
            <a:r>
              <a:rPr lang="en-AU" dirty="0" err="1"/>
              <a:t>Dilpômé</a:t>
            </a:r>
            <a:r>
              <a:rPr lang="en-AU" dirty="0"/>
              <a:t>: Graduate (</a:t>
            </a:r>
            <a:r>
              <a:rPr lang="en-AU" dirty="0" err="1"/>
              <a:t>être</a:t>
            </a:r>
            <a:r>
              <a:rPr lang="en-AU" dirty="0"/>
              <a:t> </a:t>
            </a:r>
            <a:r>
              <a:rPr lang="en-AU" dirty="0" err="1"/>
              <a:t>diplômé</a:t>
            </a:r>
            <a:r>
              <a:rPr lang="en-AU" dirty="0"/>
              <a:t>: to graduate. Ex: </a:t>
            </a:r>
            <a:r>
              <a:rPr lang="en-AU" i="1" dirty="0"/>
              <a:t>I will graduate in September</a:t>
            </a:r>
            <a:r>
              <a:rPr lang="en-AU" dirty="0"/>
              <a:t>)</a:t>
            </a:r>
          </a:p>
          <a:p>
            <a:r>
              <a:rPr lang="en-AU" dirty="0" err="1"/>
              <a:t>Compétence</a:t>
            </a:r>
            <a:r>
              <a:rPr lang="en-AU" dirty="0"/>
              <a:t>: Skill</a:t>
            </a:r>
          </a:p>
          <a:p>
            <a:r>
              <a:rPr lang="en-AU" dirty="0" err="1"/>
              <a:t>Offre</a:t>
            </a:r>
            <a:r>
              <a:rPr lang="en-AU" dirty="0"/>
              <a:t> </a:t>
            </a:r>
            <a:r>
              <a:rPr lang="en-AU" dirty="0" err="1"/>
              <a:t>d’emploi</a:t>
            </a:r>
            <a:r>
              <a:rPr lang="en-AU" dirty="0"/>
              <a:t>: </a:t>
            </a:r>
            <a:r>
              <a:rPr lang="en-AU" dirty="0" err="1"/>
              <a:t>Jod</a:t>
            </a:r>
            <a:r>
              <a:rPr lang="en-AU" dirty="0"/>
              <a:t> ad (advertisement)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943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B1D528-1425-4107-8314-DB32C354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Part 1: writing a CV</a:t>
            </a:r>
            <a:endParaRPr lang="en-AU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55FD69B-7BE0-4C68-A77B-539C8091E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0136" y="2053053"/>
            <a:ext cx="4866197" cy="39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5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FCEC3A-B102-4FCE-A62C-B42F8DB1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Goals of a resume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04A8B6-36AB-4237-AB66-29110518D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508" lvl="1" indent="-342900"/>
            <a:r>
              <a:rPr lang="en-AU" sz="2800" baseline="-25000" dirty="0"/>
              <a:t>explain </a:t>
            </a:r>
            <a:r>
              <a:rPr lang="en-AU" sz="2800" b="1" baseline="-25000" dirty="0"/>
              <a:t>educational credentials</a:t>
            </a:r>
            <a:endParaRPr lang="fr-FR" sz="2800" b="1" dirty="0"/>
          </a:p>
          <a:p>
            <a:pPr marL="635508" lvl="1" indent="-342900"/>
            <a:r>
              <a:rPr lang="en-AU" sz="2800" baseline="-25000" dirty="0"/>
              <a:t>specify </a:t>
            </a:r>
            <a:r>
              <a:rPr lang="en-AU" sz="2800" b="1" baseline="-25000" dirty="0"/>
              <a:t>tech skills </a:t>
            </a:r>
            <a:r>
              <a:rPr lang="en-AU" sz="2800" baseline="-25000" dirty="0"/>
              <a:t>and demonstrate level</a:t>
            </a:r>
            <a:endParaRPr lang="fr-FR" sz="2800" dirty="0"/>
          </a:p>
          <a:p>
            <a:pPr marL="635508" lvl="1" indent="-342900"/>
            <a:r>
              <a:rPr lang="en-AU" sz="2800" baseline="-25000" dirty="0"/>
              <a:t>showcase </a:t>
            </a:r>
            <a:r>
              <a:rPr lang="en-AU" sz="2800" b="1" baseline="-25000" dirty="0"/>
              <a:t>internship duties </a:t>
            </a:r>
            <a:r>
              <a:rPr lang="en-AU" sz="2800" baseline="-25000" dirty="0"/>
              <a:t>(Strong verb + job duty+ impact, links to portfolio/git)</a:t>
            </a:r>
            <a:endParaRPr lang="fr-FR" sz="2800" dirty="0"/>
          </a:p>
          <a:p>
            <a:pPr marL="635508" lvl="1" indent="-342900"/>
            <a:r>
              <a:rPr lang="en-AU" sz="2800" baseline="-25000" dirty="0"/>
              <a:t>showcase </a:t>
            </a:r>
            <a:r>
              <a:rPr lang="en-AU" sz="2800" b="1" baseline="-25000" dirty="0"/>
              <a:t>academic projects </a:t>
            </a:r>
            <a:r>
              <a:rPr lang="en-AU" sz="2800" baseline="-25000" dirty="0"/>
              <a:t>Strong verb + job duty+ impact</a:t>
            </a:r>
            <a:endParaRPr lang="fr-FR" sz="2800" dirty="0"/>
          </a:p>
          <a:p>
            <a:pPr marL="635508" lvl="1" indent="-342900"/>
            <a:r>
              <a:rPr lang="en-AU" sz="2800" baseline="-25000" dirty="0"/>
              <a:t>showcase </a:t>
            </a:r>
            <a:r>
              <a:rPr lang="en-AU" sz="2800" b="1" baseline="-25000" dirty="0"/>
              <a:t>personal projects </a:t>
            </a:r>
            <a:r>
              <a:rPr lang="en-AU" sz="2800" baseline="-25000" dirty="0"/>
              <a:t>Strong verb + job duty+ impact</a:t>
            </a:r>
            <a:endParaRPr lang="fr-FR" sz="2800" dirty="0"/>
          </a:p>
          <a:p>
            <a:pPr marL="635508" lvl="1" indent="-342900"/>
            <a:r>
              <a:rPr lang="en-AU" sz="2800" baseline="-25000" dirty="0"/>
              <a:t>→ demonstrate your ability to learn, self-teach</a:t>
            </a:r>
            <a:endParaRPr lang="fr-FR" sz="2800" dirty="0"/>
          </a:p>
          <a:p>
            <a:pPr marL="635508" lvl="1" indent="-342900"/>
            <a:r>
              <a:rPr lang="en-AU" sz="2800" baseline="-25000" dirty="0"/>
              <a:t>→ Your ability to work effectively as part of a team</a:t>
            </a:r>
            <a:endParaRPr lang="fr-FR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051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D5EBD-E427-4732-B716-FA1F85C5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Structure of a CV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37C460-9921-4214-BC09-19DF902B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AU" sz="2400" b="1" baseline="-25000" dirty="0"/>
              <a:t>Header</a:t>
            </a:r>
            <a:r>
              <a:rPr lang="en-AU" sz="2400" baseline="-25000" dirty="0"/>
              <a:t> with contact details </a:t>
            </a:r>
            <a:endParaRPr lang="fr-FR" sz="2400" dirty="0"/>
          </a:p>
          <a:p>
            <a:pPr lvl="1"/>
            <a:r>
              <a:rPr lang="en-AU" sz="2400" b="1" baseline="-25000" dirty="0"/>
              <a:t>profile/</a:t>
            </a:r>
            <a:r>
              <a:rPr lang="en-AU" sz="2400" baseline="-25000" dirty="0"/>
              <a:t> summary of strong points for the post (tech skills, exp and qualities)</a:t>
            </a:r>
            <a:endParaRPr lang="fr-FR" sz="2400" dirty="0"/>
          </a:p>
          <a:p>
            <a:pPr lvl="1"/>
            <a:r>
              <a:rPr lang="en-AU" sz="2400" b="1" baseline="-25000" dirty="0"/>
              <a:t>technical skills (don’t forget S4 topics PHP, JS, NodeJS, ReactJS, </a:t>
            </a:r>
            <a:r>
              <a:rPr lang="en-AU" sz="2400" b="1" baseline="-25000"/>
              <a:t>Code igniter)</a:t>
            </a:r>
            <a:endParaRPr lang="fr-FR" sz="2400" dirty="0"/>
          </a:p>
          <a:p>
            <a:pPr lvl="1"/>
            <a:r>
              <a:rPr lang="en-AU" sz="2400" b="1" baseline="-25000" dirty="0"/>
              <a:t>education</a:t>
            </a:r>
            <a:r>
              <a:rPr lang="en-AU" sz="2400" baseline="-25000" dirty="0"/>
              <a:t>: degree + coursework highlights (relevant modules)</a:t>
            </a:r>
            <a:endParaRPr lang="fr-FR" sz="2400" dirty="0"/>
          </a:p>
          <a:p>
            <a:pPr lvl="1"/>
            <a:r>
              <a:rPr lang="en-AU" sz="2400" b="1" baseline="-25000" dirty="0"/>
              <a:t>academic and personal projects</a:t>
            </a:r>
            <a:endParaRPr lang="fr-FR" sz="2400" b="1" dirty="0"/>
          </a:p>
          <a:p>
            <a:pPr lvl="1"/>
            <a:r>
              <a:rPr lang="en-AU" sz="2400" baseline="-25000" dirty="0"/>
              <a:t>internship / work</a:t>
            </a:r>
            <a:r>
              <a:rPr lang="en-AU" sz="2400" b="1" baseline="-25000" dirty="0"/>
              <a:t> experience</a:t>
            </a:r>
            <a:endParaRPr lang="fr-FR" sz="2400" dirty="0"/>
          </a:p>
          <a:p>
            <a:pPr lvl="1"/>
            <a:r>
              <a:rPr lang="en-AU" sz="2400" baseline="-25000" dirty="0"/>
              <a:t>(personal interests)</a:t>
            </a:r>
            <a:endParaRPr lang="fr-FR" sz="2400" dirty="0"/>
          </a:p>
          <a:p>
            <a:pPr lvl="1"/>
            <a:r>
              <a:rPr lang="en-AU" sz="2400" baseline="-25000" dirty="0"/>
              <a:t>references</a:t>
            </a:r>
            <a:endParaRPr lang="fr-FR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131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5BFDE-6958-4F97-B7CD-B056591A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/>
                </a:solidFill>
              </a:rPr>
              <a:t>Tailor make the CV for the job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526F4-E545-4E08-AC72-963240B8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b="1" dirty="0"/>
              <a:t>List the tech skills and soft skills / qualities for the internship</a:t>
            </a:r>
          </a:p>
          <a:p>
            <a:r>
              <a:rPr lang="en-AU" sz="3200" dirty="0"/>
              <a:t>Everything you list on your CV must</a:t>
            </a:r>
            <a:r>
              <a:rPr lang="en-AU" sz="3200" dirty="0">
                <a:highlight>
                  <a:srgbClr val="FFFF00"/>
                </a:highlight>
              </a:rPr>
              <a:t> demonstrate </a:t>
            </a:r>
            <a:r>
              <a:rPr lang="en-AU" sz="3200" dirty="0"/>
              <a:t>those skills: education (modules, labs), academic projects, personal projects, internship, extra curricular activities</a:t>
            </a:r>
          </a:p>
          <a:p>
            <a:r>
              <a:rPr lang="en-AU" sz="3200" dirty="0"/>
              <a:t>Only select the </a:t>
            </a:r>
            <a:r>
              <a:rPr lang="en-AU" sz="3200" b="1" dirty="0">
                <a:highlight>
                  <a:srgbClr val="FFFF00"/>
                </a:highlight>
              </a:rPr>
              <a:t>relevant aspects </a:t>
            </a:r>
            <a:r>
              <a:rPr lang="en-AU" sz="3200" dirty="0"/>
              <a:t>for each which will help illustrate those skills and qualities</a:t>
            </a:r>
          </a:p>
        </p:txBody>
      </p:sp>
    </p:spTree>
    <p:extLst>
      <p:ext uri="{BB962C8B-B14F-4D97-AF65-F5344CB8AC3E}">
        <p14:creationId xmlns:p14="http://schemas.microsoft.com/office/powerpoint/2010/main" val="22117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A067B-9FB3-4D55-BD87-C1E4DA52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Using a resume builder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5C7179-ADBF-4DBE-AB43-2A77D58D9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The basic or free versions do not offer AI aided writing of sections or limited help </a:t>
            </a:r>
          </a:p>
          <a:p>
            <a:r>
              <a:rPr lang="en-AU" b="1" dirty="0"/>
              <a:t>Enhance (LinkedIn)</a:t>
            </a:r>
            <a:r>
              <a:rPr lang="en-AU" dirty="0"/>
              <a:t> can format, will run ATS scan and give you a score, and identify weaknesses but will not correct them, only for premium 16-20£/month</a:t>
            </a:r>
            <a:endParaRPr lang="en-AU" b="1" dirty="0"/>
          </a:p>
          <a:p>
            <a:r>
              <a:rPr lang="fr-FR" b="1" dirty="0" err="1"/>
              <a:t>Cvdesignr</a:t>
            </a:r>
            <a:r>
              <a:rPr lang="fr-FR" b="1" dirty="0"/>
              <a:t> </a:t>
            </a:r>
            <a:r>
              <a:rPr lang="fr-FR" dirty="0" err="1"/>
              <a:t>with</a:t>
            </a:r>
            <a:r>
              <a:rPr lang="fr-FR" dirty="0"/>
              <a:t> an </a:t>
            </a:r>
            <a:r>
              <a:rPr lang="fr-FR" dirty="0" err="1"/>
              <a:t>account</a:t>
            </a:r>
            <a:r>
              <a:rPr lang="fr-FR" dirty="0"/>
              <a:t>/</a:t>
            </a:r>
            <a:r>
              <a:rPr lang="fr-FR" dirty="0" err="1"/>
              <a:t>generates</a:t>
            </a:r>
            <a:r>
              <a:rPr lang="fr-FR" dirty="0"/>
              <a:t> </a:t>
            </a:r>
            <a:r>
              <a:rPr lang="fr-FR" dirty="0" err="1"/>
              <a:t>generic</a:t>
            </a:r>
            <a:r>
              <a:rPr lang="fr-FR" dirty="0"/>
              <a:t> </a:t>
            </a:r>
            <a:r>
              <a:rPr lang="fr-FR" dirty="0" err="1"/>
              <a:t>template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job ad for free but default phrases and structure for </a:t>
            </a:r>
            <a:r>
              <a:rPr lang="fr-FR" dirty="0" err="1"/>
              <a:t>experienced</a:t>
            </a:r>
            <a:r>
              <a:rPr lang="fr-FR" dirty="0"/>
              <a:t> dev/ translation, AI-</a:t>
            </a:r>
            <a:r>
              <a:rPr lang="fr-FR" dirty="0" err="1"/>
              <a:t>gen</a:t>
            </a:r>
            <a:r>
              <a:rPr lang="fr-FR" dirty="0"/>
              <a:t> content and ATS score </a:t>
            </a:r>
            <a:r>
              <a:rPr lang="fr-FR" dirty="0" err="1"/>
              <a:t>with</a:t>
            </a:r>
            <a:r>
              <a:rPr lang="fr-FR" dirty="0"/>
              <a:t> premium version (10€/</a:t>
            </a:r>
            <a:r>
              <a:rPr lang="fr-FR" dirty="0" err="1"/>
              <a:t>month</a:t>
            </a:r>
            <a:r>
              <a:rPr lang="fr-FR" dirty="0"/>
              <a:t>)</a:t>
            </a:r>
          </a:p>
          <a:p>
            <a:r>
              <a:rPr lang="fr-FR" b="1" dirty="0" err="1"/>
              <a:t>Chatgpt</a:t>
            </a:r>
            <a:r>
              <a:rPr lang="fr-FR" b="1" dirty="0"/>
              <a:t> </a:t>
            </a:r>
            <a:r>
              <a:rPr lang="fr-FR" dirty="0"/>
              <a:t>effective for content but </a:t>
            </a:r>
            <a:r>
              <a:rPr lang="fr-FR" dirty="0" err="1"/>
              <a:t>struggles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formatting</a:t>
            </a:r>
            <a:endParaRPr lang="en-AU" dirty="0"/>
          </a:p>
          <a:p>
            <a:r>
              <a:rPr lang="en-AU" dirty="0">
                <a:highlight>
                  <a:srgbClr val="FFFF00"/>
                </a:highlight>
              </a:rPr>
              <a:t>Your data is shared with third party vendors: use fake details except email address</a:t>
            </a:r>
          </a:p>
          <a:p>
            <a:r>
              <a:rPr lang="en-AU" dirty="0"/>
              <a:t>Start from scratch rather than using an existing CV, can be tailored to a job ad, or a type of position, but tends to generate phrases and format of more experienced profiles. </a:t>
            </a:r>
          </a:p>
          <a:p>
            <a:r>
              <a:rPr lang="en-AU" dirty="0"/>
              <a:t>= use it as a basis for building your CV, but build on it and tailor 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27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51EA2D-D639-4122-9D2A-3C97C718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The Skills section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2DF3D8-8D35-4F3D-922D-78B805BA8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Divide into categories, order and selection depends on job ad:</a:t>
            </a:r>
          </a:p>
          <a:p>
            <a:pPr lvl="1"/>
            <a:r>
              <a:rPr lang="en-AU" sz="2800" dirty="0"/>
              <a:t>Languages and frameworks</a:t>
            </a:r>
          </a:p>
          <a:p>
            <a:pPr lvl="1"/>
            <a:r>
              <a:rPr lang="en-AU" sz="2800" dirty="0"/>
              <a:t>Backend development</a:t>
            </a:r>
          </a:p>
          <a:p>
            <a:pPr lvl="1"/>
            <a:r>
              <a:rPr lang="en-AU" sz="2800" dirty="0"/>
              <a:t>Database</a:t>
            </a:r>
          </a:p>
          <a:p>
            <a:pPr lvl="1"/>
            <a:r>
              <a:rPr lang="en-AU" sz="2800" dirty="0"/>
              <a:t>DevOps and deployment/ versioning tools and IDE</a:t>
            </a:r>
          </a:p>
          <a:p>
            <a:pPr lvl="1"/>
            <a:r>
              <a:rPr lang="en-AU" sz="2800" dirty="0"/>
              <a:t>Testing tools</a:t>
            </a:r>
          </a:p>
          <a:p>
            <a:pPr lvl="1"/>
            <a:r>
              <a:rPr lang="en-AU" sz="2800" dirty="0"/>
              <a:t>Tools and platforms (project management)</a:t>
            </a:r>
          </a:p>
          <a:p>
            <a:pPr lvl="1"/>
            <a:r>
              <a:rPr lang="en-AU" sz="2800" dirty="0"/>
              <a:t>Systems and Network</a:t>
            </a:r>
          </a:p>
          <a:p>
            <a:pPr lvl="1"/>
            <a:endParaRPr lang="en-AU" sz="2800" dirty="0"/>
          </a:p>
          <a:p>
            <a:pPr lvl="1"/>
            <a:r>
              <a:rPr lang="en-AU" sz="2800" dirty="0"/>
              <a:t>Rank in order of importance for the job</a:t>
            </a:r>
          </a:p>
        </p:txBody>
      </p:sp>
    </p:spTree>
    <p:extLst>
      <p:ext uri="{BB962C8B-B14F-4D97-AF65-F5344CB8AC3E}">
        <p14:creationId xmlns:p14="http://schemas.microsoft.com/office/powerpoint/2010/main" val="4171028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FE95E-C5C8-4447-B01A-9FA4A325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Education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6D7A3-5E65-4E09-A68D-7A95E70F2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University Bachelor of Technology in Computer Science (Bachelor </a:t>
            </a:r>
            <a:r>
              <a:rPr lang="en-AU" b="1" dirty="0" err="1"/>
              <a:t>Universitaire</a:t>
            </a:r>
            <a:r>
              <a:rPr lang="en-AU" b="1" dirty="0"/>
              <a:t> de </a:t>
            </a:r>
            <a:r>
              <a:rPr lang="en-AU" b="1" dirty="0" err="1"/>
              <a:t>Technologie</a:t>
            </a:r>
            <a:r>
              <a:rPr lang="en-AU" b="1" dirty="0"/>
              <a:t> </a:t>
            </a:r>
            <a:r>
              <a:rPr lang="en-AU" b="1" dirty="0" err="1"/>
              <a:t>en</a:t>
            </a:r>
            <a:r>
              <a:rPr lang="en-AU" b="1" dirty="0"/>
              <a:t> </a:t>
            </a:r>
            <a:r>
              <a:rPr lang="en-AU" b="1" dirty="0" err="1"/>
              <a:t>informatique</a:t>
            </a:r>
            <a:r>
              <a:rPr lang="en-AU" b="1" dirty="0"/>
              <a:t>)</a:t>
            </a:r>
          </a:p>
          <a:p>
            <a:pPr marL="0" indent="0">
              <a:buNone/>
            </a:pPr>
            <a:r>
              <a:rPr lang="en-AU" dirty="0"/>
              <a:t>Nantes Université</a:t>
            </a:r>
          </a:p>
          <a:p>
            <a:r>
              <a:rPr lang="en-US" dirty="0"/>
              <a:t>Full-time* three-year Degree, divided into six semesters for a total of 2,000 hours of classes.</a:t>
            </a:r>
          </a:p>
          <a:p>
            <a:r>
              <a:rPr lang="en-US" dirty="0"/>
              <a:t>30h per week, 50% labs </a:t>
            </a:r>
          </a:p>
          <a:p>
            <a:r>
              <a:rPr lang="en-US" dirty="0"/>
              <a:t>22 to 26-week internship, spread out across the 2nd and 3rd year.</a:t>
            </a:r>
          </a:p>
          <a:p>
            <a:r>
              <a:rPr lang="en-US" dirty="0"/>
              <a:t>600 hours dedicated to semester projects.</a:t>
            </a:r>
          </a:p>
          <a:p>
            <a:endParaRPr lang="en-US" dirty="0"/>
          </a:p>
          <a:p>
            <a:r>
              <a:rPr lang="en-US" dirty="0"/>
              <a:t>*Alternance: work-study </a:t>
            </a:r>
            <a:r>
              <a:rPr lang="en-US" dirty="0" err="1"/>
              <a:t>programme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5710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06DD1-858D-4FFD-B087-AACA6F2A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Explaining your education (UK &amp; US)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B6C087AA-FB19-4208-826B-E0507D24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247918"/>
              </p:ext>
            </p:extLst>
          </p:nvPr>
        </p:nvGraphicFramePr>
        <p:xfrm>
          <a:off x="975360" y="1812120"/>
          <a:ext cx="10241280" cy="4004480"/>
        </p:xfrm>
        <a:graphic>
          <a:graphicData uri="http://schemas.openxmlformats.org/drawingml/2006/table">
            <a:tbl>
              <a:tblPr firstRow="1" firstCol="1" bandRow="1"/>
              <a:tblGrid>
                <a:gridCol w="1727200">
                  <a:extLst>
                    <a:ext uri="{9D8B030D-6E8A-4147-A177-3AD203B41FA5}">
                      <a16:colId xmlns:a16="http://schemas.microsoft.com/office/drawing/2014/main" val="778426278"/>
                    </a:ext>
                  </a:extLst>
                </a:gridCol>
                <a:gridCol w="3994573">
                  <a:extLst>
                    <a:ext uri="{9D8B030D-6E8A-4147-A177-3AD203B41FA5}">
                      <a16:colId xmlns:a16="http://schemas.microsoft.com/office/drawing/2014/main" val="864222820"/>
                    </a:ext>
                  </a:extLst>
                </a:gridCol>
                <a:gridCol w="4519507">
                  <a:extLst>
                    <a:ext uri="{9D8B030D-6E8A-4147-A177-3AD203B41FA5}">
                      <a16:colId xmlns:a16="http://schemas.microsoft.com/office/drawing/2014/main" val="765354550"/>
                    </a:ext>
                  </a:extLst>
                </a:gridCol>
              </a:tblGrid>
              <a:tr h="4250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French qualifications</a:t>
                      </a:r>
                      <a:endParaRPr lang="fr-FR" sz="200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UK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US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861217"/>
                  </a:ext>
                </a:extLst>
              </a:tr>
              <a:tr h="35793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Bachelor </a:t>
                      </a:r>
                      <a:r>
                        <a:rPr lang="en-US" sz="2000" b="1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Universitaire</a:t>
                      </a:r>
                      <a:r>
                        <a:rPr lang="en-US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 de </a:t>
                      </a:r>
                      <a:r>
                        <a:rPr lang="en-US" sz="2000" b="1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Technologie</a:t>
                      </a:r>
                      <a:r>
                        <a:rPr lang="en-US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 Informatique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equivalent to a UK’s Bachelor’s Degree with </a:t>
                      </a:r>
                      <a:r>
                        <a:rPr lang="en-US" sz="24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Honours</a:t>
                      </a:r>
                      <a:r>
                        <a:rPr lang="en-US" sz="24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 in Computing- 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RQF Level 6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2,000 contact hours over 3 years (900 hours of labs) + 300 hours independent projects 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/>
                        <a:t>3‑year applied bachelor (EQF 6). Equivalent to a US Bachelor’s in Computer Science (foreign credential)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2000" dirty="0"/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2,000 contact hours over 3 years (900 hours of labs) + 300 hours independent projects </a:t>
                      </a:r>
                      <a:endParaRPr lang="fr-FR" sz="2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657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625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06DD1-858D-4FFD-B087-AACA6F2A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Explaining your education (UK &amp; US)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B6C087AA-FB19-4208-826B-E0507D24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160963"/>
              </p:ext>
            </p:extLst>
          </p:nvPr>
        </p:nvGraphicFramePr>
        <p:xfrm>
          <a:off x="975360" y="1812120"/>
          <a:ext cx="10241280" cy="3272200"/>
        </p:xfrm>
        <a:graphic>
          <a:graphicData uri="http://schemas.openxmlformats.org/drawingml/2006/table">
            <a:tbl>
              <a:tblPr firstRow="1" firstCol="1" bandRow="1"/>
              <a:tblGrid>
                <a:gridCol w="1727200">
                  <a:extLst>
                    <a:ext uri="{9D8B030D-6E8A-4147-A177-3AD203B41FA5}">
                      <a16:colId xmlns:a16="http://schemas.microsoft.com/office/drawing/2014/main" val="778426278"/>
                    </a:ext>
                  </a:extLst>
                </a:gridCol>
                <a:gridCol w="4645995">
                  <a:extLst>
                    <a:ext uri="{9D8B030D-6E8A-4147-A177-3AD203B41FA5}">
                      <a16:colId xmlns:a16="http://schemas.microsoft.com/office/drawing/2014/main" val="864222820"/>
                    </a:ext>
                  </a:extLst>
                </a:gridCol>
                <a:gridCol w="3868085">
                  <a:extLst>
                    <a:ext uri="{9D8B030D-6E8A-4147-A177-3AD203B41FA5}">
                      <a16:colId xmlns:a16="http://schemas.microsoft.com/office/drawing/2014/main" val="765354550"/>
                    </a:ext>
                  </a:extLst>
                </a:gridCol>
              </a:tblGrid>
              <a:tr h="3001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UK</a:t>
                      </a: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US</a:t>
                      </a: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861217"/>
                  </a:ext>
                </a:extLst>
              </a:tr>
              <a:tr h="4300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fr-FR" sz="1800" kern="12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14/20</a:t>
                      </a: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first/ 1 : 1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GPA 4.0   </a:t>
                      </a:r>
                      <a:r>
                        <a:rPr lang="fr-FR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with</a:t>
                      </a:r>
                      <a:r>
                        <a:rPr lang="fr-FR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 </a:t>
                      </a:r>
                      <a:r>
                        <a:rPr lang="fr-FR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honours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94323"/>
                  </a:ext>
                </a:extLst>
              </a:tr>
              <a:tr h="3001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13/20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20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upper second class honours (2:1): mention bien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GPA 3.5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823820"/>
                  </a:ext>
                </a:extLst>
              </a:tr>
              <a:tr h="3001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2000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11/20</a:t>
                      </a:r>
                      <a:endParaRPr lang="fr-FR" sz="200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20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lower second class honours: (2:2) mention Bien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20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 GPA 3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38899"/>
                  </a:ext>
                </a:extLst>
              </a:tr>
              <a:tr h="59367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Baccalauréat</a:t>
                      </a:r>
                      <a:r>
                        <a:rPr lang="en-US" sz="2000" b="1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 </a:t>
                      </a:r>
                      <a:r>
                        <a:rPr lang="en-US" sz="2000" b="1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Scientifique</a:t>
                      </a:r>
                      <a:endParaRPr lang="fr-FR" sz="20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equivalent to 4 or 5 "A levels" including  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Maths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 and Physics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equivalent to a "high school leaving certificate" with 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Maths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 and Physics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293736"/>
                  </a:ext>
                </a:extLst>
              </a:tr>
              <a:tr h="9005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Mention bien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TB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with merit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with distinction/ with 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honours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rebuchet MS" panose="020B0603020202020204" pitchFamily="34" charset="0"/>
                        </a:rPr>
                        <a:t>/ first 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class 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honours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 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Cum </a:t>
                      </a:r>
                      <a:r>
                        <a:rPr lang="fr-FR" sz="1800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Trebuchet MS" panose="020B0603020202020204" pitchFamily="34" charset="0"/>
                        </a:rPr>
                        <a:t>laude</a:t>
                      </a:r>
                      <a:endParaRPr lang="fr-FR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Lucida Sans Unicode" panose="020B0602030504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5842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592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066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A4A7D-AC66-426A-A7BA-70728A44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/>
                </a:solidFill>
              </a:rPr>
              <a:t>Coursework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B129E9-110D-433A-8184-4B3458FB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explain each topic to an outsider/ potential employer- what have you learnt at school on this topic </a:t>
            </a:r>
          </a:p>
          <a:p>
            <a:pPr lvl="1"/>
            <a:r>
              <a:rPr lang="en-US" sz="2800" b="1" dirty="0"/>
              <a:t>modules</a:t>
            </a:r>
          </a:p>
          <a:p>
            <a:pPr lvl="1"/>
            <a:r>
              <a:rPr lang="en-US" sz="2800" b="1" dirty="0"/>
              <a:t>lectures </a:t>
            </a:r>
            <a:r>
              <a:rPr lang="en-US" sz="2800" dirty="0"/>
              <a:t>(CM) </a:t>
            </a:r>
          </a:p>
          <a:p>
            <a:pPr lvl="1"/>
            <a:r>
              <a:rPr lang="en-US" sz="2800" dirty="0"/>
              <a:t>lessons &amp; </a:t>
            </a:r>
            <a:r>
              <a:rPr lang="en-US" sz="2800" b="1" dirty="0"/>
              <a:t>tutorials</a:t>
            </a:r>
            <a:r>
              <a:rPr lang="en-US" sz="2800" dirty="0"/>
              <a:t> (TD)</a:t>
            </a:r>
          </a:p>
          <a:p>
            <a:pPr lvl="1"/>
            <a:r>
              <a:rPr lang="en-US" sz="2800" b="1" dirty="0" err="1"/>
              <a:t>practicals</a:t>
            </a:r>
            <a:r>
              <a:rPr lang="en-US" sz="2800" b="1" dirty="0"/>
              <a:t> or labs </a:t>
            </a:r>
            <a:r>
              <a:rPr lang="en-US" sz="2800" dirty="0"/>
              <a:t>(TP)</a:t>
            </a:r>
          </a:p>
          <a:p>
            <a:pPr lvl="1"/>
            <a:r>
              <a:rPr lang="en-US" sz="2800" dirty="0"/>
              <a:t> + </a:t>
            </a:r>
            <a:r>
              <a:rPr lang="en-US" sz="2800" b="1" dirty="0"/>
              <a:t>projects </a:t>
            </a:r>
            <a:r>
              <a:rPr lang="en-US" sz="2800" dirty="0"/>
              <a:t>(academic or personal)</a:t>
            </a:r>
          </a:p>
          <a:p>
            <a:pPr lvl="1"/>
            <a:r>
              <a:rPr lang="en-US" sz="2800" dirty="0"/>
              <a:t>what do you know how to do? (level of proficiency)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93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BDEF8B-7A7F-4AE4-849B-BD3982D4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Explaining your education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7C88CD-8CB6-4FF2-96F3-A0228163E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b="1" dirty="0"/>
              <a:t>Coursework highlights/ relevant modules:</a:t>
            </a:r>
          </a:p>
          <a:p>
            <a:pPr lvl="1"/>
            <a:r>
              <a:rPr lang="en-AU" dirty="0"/>
              <a:t>Programming, OOP</a:t>
            </a:r>
          </a:p>
          <a:p>
            <a:pPr lvl="1"/>
            <a:r>
              <a:rPr lang="en-AU" dirty="0"/>
              <a:t>Network architecture, System programming</a:t>
            </a:r>
          </a:p>
          <a:p>
            <a:pPr lvl="1"/>
            <a:r>
              <a:rPr lang="en-AU" dirty="0"/>
              <a:t>Web Development</a:t>
            </a:r>
          </a:p>
          <a:p>
            <a:pPr lvl="1"/>
            <a:r>
              <a:rPr lang="en-AU" dirty="0"/>
              <a:t>Mobile application development</a:t>
            </a:r>
          </a:p>
          <a:p>
            <a:pPr lvl="1"/>
            <a:r>
              <a:rPr lang="en-AU" dirty="0"/>
              <a:t>Database</a:t>
            </a:r>
          </a:p>
          <a:p>
            <a:pPr lvl="1"/>
            <a:endParaRPr lang="en-AU" dirty="0"/>
          </a:p>
          <a:p>
            <a:r>
              <a:rPr lang="en-AU" dirty="0"/>
              <a:t>You can detail. For example, for a C++ oriented CV:</a:t>
            </a:r>
            <a:endParaRPr lang="fr-FR" dirty="0"/>
          </a:p>
          <a:p>
            <a:pPr lvl="1"/>
            <a:r>
              <a:rPr lang="en-US" dirty="0"/>
              <a:t>completed C++ course</a:t>
            </a:r>
          </a:p>
          <a:p>
            <a:pPr lvl="1"/>
            <a:r>
              <a:rPr lang="en-US" dirty="0"/>
              <a:t>introduction to Computer Systems</a:t>
            </a:r>
          </a:p>
          <a:p>
            <a:pPr lvl="1"/>
            <a:r>
              <a:rPr lang="en-US" dirty="0"/>
              <a:t>problem solving for engineering case studies: Emphasis was on the design of algorithms and their implementation for solving engineering problems using C</a:t>
            </a:r>
          </a:p>
          <a:p>
            <a:pPr lvl="1"/>
            <a:r>
              <a:rPr lang="en-US" dirty="0"/>
              <a:t>introduction to Visual Basic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793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592FC-9D7A-4587-A9B0-E01074B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Showcasing your projects &amp; experience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170906-C970-4EEA-9F36-5AA683AA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In your description, use the STAR method</a:t>
            </a:r>
          </a:p>
          <a:p>
            <a:r>
              <a:rPr lang="en-AU" sz="2800" b="1" dirty="0"/>
              <a:t>S</a:t>
            </a:r>
            <a:r>
              <a:rPr lang="en-AU" sz="2800" dirty="0"/>
              <a:t>ituation (assignment, level)</a:t>
            </a:r>
          </a:p>
          <a:p>
            <a:r>
              <a:rPr lang="en-AU" sz="2800" b="1" dirty="0"/>
              <a:t>T</a:t>
            </a:r>
            <a:r>
              <a:rPr lang="en-AU" sz="2800" dirty="0"/>
              <a:t>ask (specs, technologies and tools, team, hours)</a:t>
            </a:r>
          </a:p>
          <a:p>
            <a:r>
              <a:rPr lang="en-AU" sz="2800" b="1" dirty="0"/>
              <a:t>A</a:t>
            </a:r>
            <a:r>
              <a:rPr lang="en-AU" sz="2800" dirty="0"/>
              <a:t>ction (action verbs, specific and individual)</a:t>
            </a:r>
          </a:p>
          <a:p>
            <a:pPr marL="0" indent="0">
              <a:buNone/>
            </a:pPr>
            <a:r>
              <a:rPr lang="en-AU" sz="2800" dirty="0"/>
              <a:t> </a:t>
            </a:r>
            <a:r>
              <a:rPr lang="en-AU" sz="2800" b="1" dirty="0"/>
              <a:t>R</a:t>
            </a:r>
            <a:r>
              <a:rPr lang="en-AU" sz="2800" dirty="0"/>
              <a:t>esult (completion, functional or not, impact)</a:t>
            </a:r>
          </a:p>
        </p:txBody>
      </p:sp>
    </p:spTree>
    <p:extLst>
      <p:ext uri="{BB962C8B-B14F-4D97-AF65-F5344CB8AC3E}">
        <p14:creationId xmlns:p14="http://schemas.microsoft.com/office/powerpoint/2010/main" val="1452084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E5307-C402-E336-8270-949936AF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F3F249-3A28-86F8-D81A-64D922429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Situation:</a:t>
            </a:r>
            <a:r>
              <a:rPr lang="en-US" sz="2800" dirty="0"/>
              <a:t> Our team struggled with manual bug tracking, causing delays in software releases.</a:t>
            </a:r>
            <a:br>
              <a:rPr lang="en-US" sz="2800" dirty="0"/>
            </a:br>
            <a:r>
              <a:rPr lang="en-US" sz="2800" b="1" dirty="0"/>
              <a:t>Task:</a:t>
            </a:r>
            <a:r>
              <a:rPr lang="en-US" sz="2800" dirty="0"/>
              <a:t> I was tasked with building an automated issue-tracking system to streamline reporting and resolution.</a:t>
            </a:r>
            <a:br>
              <a:rPr lang="en-US" sz="2800" dirty="0"/>
            </a:br>
            <a:r>
              <a:rPr lang="en-US" sz="2800" b="1" dirty="0"/>
              <a:t>Action:</a:t>
            </a:r>
            <a:r>
              <a:rPr lang="en-US" sz="2800" dirty="0"/>
              <a:t> I developed a full-stack web app using React, Node.js, and PostgreSQL, implementing real-time notifications and priority-based filtering.</a:t>
            </a:r>
            <a:br>
              <a:rPr lang="en-US" sz="2800" dirty="0"/>
            </a:br>
            <a:r>
              <a:rPr lang="en-US" sz="2800" b="1" dirty="0"/>
              <a:t>Result:</a:t>
            </a:r>
            <a:r>
              <a:rPr lang="en-US" sz="2800" dirty="0"/>
              <a:t> The system reduced bug resolution time by 40% and improved team productivity.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020421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79BB6-D263-4ACC-9653-DADD96F4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/>
                </a:solidFill>
              </a:rPr>
              <a:t>Showcasing your experience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0FF88-9DB8-4142-B82E-5C4C97589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 a responsive web app using Django and Node that allowed users to schedule social media posts across Instagram and </a:t>
            </a:r>
            <a:r>
              <a:rPr lang="en-AU" dirty="0"/>
              <a:t>Twitter</a:t>
            </a:r>
          </a:p>
          <a:p>
            <a:r>
              <a:rPr lang="en-US" dirty="0"/>
              <a:t>● Utilized the Twitter API and Instagram API</a:t>
            </a:r>
          </a:p>
          <a:p>
            <a:r>
              <a:rPr lang="en-US" dirty="0"/>
              <a:t>● Built features using </a:t>
            </a:r>
            <a:r>
              <a:rPr lang="en-US" dirty="0" err="1"/>
              <a:t>scikit</a:t>
            </a:r>
            <a:r>
              <a:rPr lang="en-US" dirty="0"/>
              <a:t>-learn in Python that learned what time of day maximized engagement with social media posts </a:t>
            </a:r>
            <a:r>
              <a:rPr lang="en-US" dirty="0">
                <a:highlight>
                  <a:srgbClr val="FFFF00"/>
                </a:highlight>
              </a:rPr>
              <a:t>which increased the overall engagement rate by 15% for users</a:t>
            </a:r>
          </a:p>
          <a:p>
            <a:r>
              <a:rPr lang="en-US" dirty="0"/>
              <a:t>● Released it for free for University of Pittsburgh students and it quickly </a:t>
            </a:r>
            <a:r>
              <a:rPr lang="en-US" dirty="0">
                <a:highlight>
                  <a:srgbClr val="FFFF00"/>
                </a:highlight>
              </a:rPr>
              <a:t>grew to over 500 monthly active users</a:t>
            </a:r>
          </a:p>
          <a:p>
            <a:r>
              <a:rPr lang="en-AU" dirty="0"/>
              <a:t>● Used: </a:t>
            </a:r>
            <a:r>
              <a:rPr lang="en-AU" dirty="0" err="1"/>
              <a:t>Javascript</a:t>
            </a:r>
            <a:r>
              <a:rPr lang="en-AU" dirty="0"/>
              <a:t>, Python, SQL, HTML/CSS</a:t>
            </a:r>
          </a:p>
        </p:txBody>
      </p:sp>
    </p:spTree>
    <p:extLst>
      <p:ext uri="{BB962C8B-B14F-4D97-AF65-F5344CB8AC3E}">
        <p14:creationId xmlns:p14="http://schemas.microsoft.com/office/powerpoint/2010/main" val="177945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3BA371-967F-4D02-9C77-CFC1D33FC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Work experience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554E0F-F5B7-41DB-866D-A04F34BF4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/>
              <a:t>Summer jobs</a:t>
            </a:r>
          </a:p>
          <a:p>
            <a:r>
              <a:rPr lang="en-AU" sz="2800" dirty="0"/>
              <a:t>Part time jobs</a:t>
            </a:r>
          </a:p>
          <a:p>
            <a:pPr marL="0" indent="0">
              <a:buNone/>
            </a:pPr>
            <a:endParaRPr lang="en-AU" sz="2800" dirty="0"/>
          </a:p>
          <a:p>
            <a:r>
              <a:rPr lang="en-AU" sz="2800" dirty="0"/>
              <a:t>Select aspects of the job which will help you </a:t>
            </a:r>
            <a:r>
              <a:rPr lang="en-AU" sz="2800" b="1" dirty="0"/>
              <a:t>demonstrate the soft skills </a:t>
            </a:r>
            <a:r>
              <a:rPr lang="en-AU" sz="2800" dirty="0"/>
              <a:t>listed in the job ad</a:t>
            </a:r>
          </a:p>
          <a:p>
            <a:r>
              <a:rPr lang="en-AU" sz="2800" dirty="0"/>
              <a:t>Typically: team work, communication skills, organisational skills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818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CFE40-124E-44EE-90D6-7B748297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Extra curricular activities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CA85D4-08D9-431B-9BAC-9E4F02BC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/>
              <a:t>Sports activities</a:t>
            </a:r>
          </a:p>
          <a:p>
            <a:r>
              <a:rPr lang="en-AU" sz="2800" dirty="0"/>
              <a:t>Volunteer work</a:t>
            </a:r>
          </a:p>
          <a:p>
            <a:r>
              <a:rPr lang="en-AU" sz="2800" dirty="0"/>
              <a:t>Use action verbs</a:t>
            </a:r>
          </a:p>
          <a:p>
            <a:r>
              <a:rPr lang="en-AU" sz="2800" dirty="0"/>
              <a:t>Be specific</a:t>
            </a:r>
          </a:p>
          <a:p>
            <a:r>
              <a:rPr lang="en-AU" sz="2800" dirty="0"/>
              <a:t>Select aspects of the job which will hep you demonstrate the soft skills listed in the ad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9441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1760D-F57B-4261-A41F-10F1CCA9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Personal interests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87E70F-ECDE-4F35-A133-95043F716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/>
              <a:t>Certifications</a:t>
            </a:r>
          </a:p>
          <a:p>
            <a:r>
              <a:rPr lang="en-AU" sz="2400" dirty="0"/>
              <a:t>Hackathons, workshops or conferences, CTF</a:t>
            </a:r>
          </a:p>
          <a:p>
            <a:r>
              <a:rPr lang="en-AU" sz="2400" dirty="0"/>
              <a:t>MOOC</a:t>
            </a:r>
            <a:endParaRPr lang="en-US" sz="2400" dirty="0"/>
          </a:p>
          <a:p>
            <a:r>
              <a:rPr lang="en-US" sz="2400" dirty="0"/>
              <a:t>Self-motivated activities or distinctive personal knowledge trips.</a:t>
            </a:r>
          </a:p>
          <a:p>
            <a:r>
              <a:rPr lang="en-US" sz="2400" dirty="0"/>
              <a:t>Contributing to open-source projects and developer communities.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1811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8A9AED-720D-4909-A314-9E69C903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Writing a profile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C682BC-1E65-47B2-93CB-E1F13CA6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AU" sz="3200" dirty="0"/>
              <a:t>A summary of what you can bring the company</a:t>
            </a:r>
          </a:p>
          <a:p>
            <a:pPr lvl="1"/>
            <a:r>
              <a:rPr lang="en-AU" sz="3200" dirty="0"/>
              <a:t>Should include your skills, qualities, education and experience for the post with your strong points</a:t>
            </a:r>
          </a:p>
          <a:p>
            <a:pPr lvl="1"/>
            <a:r>
              <a:rPr lang="en-AU" sz="3200" dirty="0"/>
              <a:t>Try to reuse keywords from the job ad and ideally the name of the company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3186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6AB2C-7914-4000-B363-CE51A64D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Examples of profiles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4B5139-E4E3-498C-8201-6AE2D1E6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4000" baseline="-25000" dirty="0"/>
              <a:t>Seeking an entry-level Web Developer position with Fair Foods Groceries where I can apply my attention to detail and the knowledge I learned while earning my BSc. in Web Design to enhance the web visitor’s experience with the company so they can shop online and experience a seamless online visit.</a:t>
            </a:r>
          </a:p>
          <a:p>
            <a:r>
              <a:rPr lang="en-AU" sz="4000" baseline="-25000" dirty="0"/>
              <a:t>Enthusiastic and hard working Web Developer with three years of experience seeking a position with Site Smart Solutions where I can offer my debugging expertise in Java to clients and customers</a:t>
            </a:r>
            <a:endParaRPr lang="en-AU" sz="4000" dirty="0"/>
          </a:p>
          <a:p>
            <a:endParaRPr lang="en-AU" sz="4000" baseline="-25000" dirty="0"/>
          </a:p>
          <a:p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87527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075FE-50F8-4ACA-B327-0870ED9D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Qualities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CEC67D-A3B4-465F-AA64-6B4E50888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9808" lvl="1" indent="-457200"/>
            <a:r>
              <a:rPr lang="en-AU" sz="2800" dirty="0"/>
              <a:t>Outgoing </a:t>
            </a:r>
          </a:p>
          <a:p>
            <a:pPr marL="749808" lvl="1" indent="-457200"/>
            <a:r>
              <a:rPr lang="en-AU" sz="2800"/>
              <a:t>versatile</a:t>
            </a:r>
            <a:endParaRPr lang="en-AU" sz="2800" dirty="0"/>
          </a:p>
          <a:p>
            <a:pPr marL="749808" lvl="1" indent="-457200"/>
            <a:r>
              <a:rPr lang="en-AU" sz="2800" dirty="0"/>
              <a:t>Hardworking</a:t>
            </a:r>
          </a:p>
          <a:p>
            <a:pPr marL="749808" lvl="1" indent="-457200"/>
            <a:r>
              <a:rPr lang="en-AU" sz="2800" dirty="0"/>
              <a:t>Detail oriented with strong analytical skills</a:t>
            </a:r>
          </a:p>
          <a:p>
            <a:pPr marL="749808" lvl="1" indent="-457200"/>
            <a:r>
              <a:rPr lang="en-AU" sz="2800" dirty="0"/>
              <a:t>Proactive /enterprising</a:t>
            </a:r>
          </a:p>
          <a:p>
            <a:pPr marL="749808" lvl="1" indent="-457200"/>
            <a:r>
              <a:rPr lang="en-AU" sz="2800" dirty="0"/>
              <a:t>resourceful</a:t>
            </a:r>
          </a:p>
          <a:p>
            <a:pPr marL="749808" lvl="1" indent="-457200"/>
            <a:r>
              <a:rPr lang="en-AU" sz="2800" dirty="0"/>
              <a:t>Team player</a:t>
            </a:r>
          </a:p>
          <a:p>
            <a:pPr marL="749808" lvl="1" indent="-457200"/>
            <a:r>
              <a:rPr lang="en-AU" sz="2800" dirty="0"/>
              <a:t>Focused, persistent problem solver</a:t>
            </a:r>
          </a:p>
          <a:p>
            <a:pPr marL="749808" lvl="1" indent="-457200"/>
            <a:r>
              <a:rPr lang="en-AU" sz="2800" dirty="0"/>
              <a:t>Enjoys working as a team as well as independently</a:t>
            </a:r>
          </a:p>
          <a:p>
            <a:pPr marL="749808" lvl="1" indent="-457200"/>
            <a:r>
              <a:rPr lang="en-AU" sz="2800" dirty="0"/>
              <a:t>adaptable</a:t>
            </a:r>
          </a:p>
        </p:txBody>
      </p:sp>
    </p:spTree>
    <p:extLst>
      <p:ext uri="{BB962C8B-B14F-4D97-AF65-F5344CB8AC3E}">
        <p14:creationId xmlns:p14="http://schemas.microsoft.com/office/powerpoint/2010/main" val="2602374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2E97C2-12C6-40D1-B094-F27396D8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Design, visuals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0710F2-CB01-4F84-8404-098EBC95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Include some dynamic elements: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infographics (with caution, not ATS compatible)</a:t>
            </a:r>
          </a:p>
          <a:p>
            <a:r>
              <a:rPr lang="en-AU" dirty="0"/>
              <a:t>Clickable portfolio- provided the portfolio or </a:t>
            </a:r>
            <a:r>
              <a:rPr lang="en-AU" dirty="0" err="1"/>
              <a:t>github</a:t>
            </a:r>
            <a:r>
              <a:rPr lang="en-AU" dirty="0"/>
              <a:t> profile is actually clean, polished and relevant (see separate document on </a:t>
            </a:r>
            <a:r>
              <a:rPr lang="en-AU" dirty="0" err="1"/>
              <a:t>madoc</a:t>
            </a:r>
            <a:r>
              <a:rPr lang="en-AU" dirty="0"/>
              <a:t>)</a:t>
            </a:r>
          </a:p>
          <a:p>
            <a:r>
              <a:rPr lang="en-AU" dirty="0"/>
              <a:t>LinkedIn profile: update it regularly, list your most important skills first, in </a:t>
            </a:r>
            <a:r>
              <a:rPr lang="en-AU"/>
              <a:t>the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1726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5BB58-23BF-408E-9CD9-CD5D9276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Research the company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4A6271-267C-4D8A-9188-DC328F1A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06" y="2018263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On their website: products, services, size, history (about us), who is the CEO? </a:t>
            </a:r>
            <a:endParaRPr lang="fr-FR" sz="2800" dirty="0"/>
          </a:p>
          <a:p>
            <a:pPr lvl="1"/>
            <a:r>
              <a:rPr lang="en-AU" sz="2800" dirty="0"/>
              <a:t>Check their LinkedIn page</a:t>
            </a:r>
            <a:endParaRPr lang="fr-FR" sz="2800" dirty="0"/>
          </a:p>
          <a:p>
            <a:pPr lvl="1"/>
            <a:r>
              <a:rPr lang="en-AU" sz="2800" dirty="0"/>
              <a:t>Check their social media</a:t>
            </a:r>
            <a:endParaRPr lang="fr-FR" sz="2800" dirty="0"/>
          </a:p>
          <a:p>
            <a:pPr lvl="1"/>
            <a:r>
              <a:rPr lang="en-AU" sz="2800" dirty="0"/>
              <a:t>Google the company for news, major projects</a:t>
            </a:r>
            <a:endParaRPr lang="fr-FR" sz="2800" dirty="0"/>
          </a:p>
          <a:p>
            <a:pPr lvl="1"/>
            <a:r>
              <a:rPr lang="en-AU" sz="2800" dirty="0"/>
              <a:t>Mission statements, values</a:t>
            </a:r>
            <a:endParaRPr lang="fr-FR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728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5BB58-23BF-408E-9CD9-CD5D9276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2">
                    <a:lumMod val="75000"/>
                  </a:schemeClr>
                </a:solidFill>
              </a:rPr>
              <a:t>Research the company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4A6271-267C-4D8A-9188-DC328F1A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06" y="2018263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Google trends- what’s the competition</a:t>
            </a:r>
            <a:endParaRPr lang="fr-FR" sz="2800" dirty="0"/>
          </a:p>
          <a:p>
            <a:pPr lvl="1"/>
            <a:r>
              <a:rPr lang="en-AU" sz="2800" dirty="0"/>
              <a:t>google alerts (set to 1 weekly) *job title* *Capgemini/careers*</a:t>
            </a:r>
            <a:endParaRPr lang="fr-FR" sz="2800" dirty="0"/>
          </a:p>
          <a:p>
            <a:pPr lvl="1"/>
            <a:r>
              <a:rPr lang="en-AU" sz="2800" dirty="0"/>
              <a:t>Check LinkedIn- have you found out people who work there -related to your position/ department (maybe info on the interviewers)</a:t>
            </a:r>
            <a:endParaRPr lang="fr-FR" sz="2800" dirty="0"/>
          </a:p>
          <a:p>
            <a:pPr lvl="1"/>
            <a:r>
              <a:rPr lang="en-AU" sz="2800" dirty="0"/>
              <a:t>For large companies, search their white papers</a:t>
            </a:r>
            <a:endParaRPr lang="fr-FR" sz="2800" dirty="0"/>
          </a:p>
          <a:p>
            <a:pPr lvl="1"/>
            <a:r>
              <a:rPr lang="en-AU" sz="2800" dirty="0"/>
              <a:t>Employee feedback (</a:t>
            </a:r>
            <a:r>
              <a:rPr lang="en-AU" sz="2800" dirty="0" err="1"/>
              <a:t>glassdoor</a:t>
            </a:r>
            <a:r>
              <a:rPr lang="en-AU" sz="2800" dirty="0"/>
              <a:t>), reuse if positive</a:t>
            </a:r>
            <a:endParaRPr lang="fr-FR" sz="2800" dirty="0"/>
          </a:p>
          <a:p>
            <a:pPr lvl="1"/>
            <a:r>
              <a:rPr lang="en-AU" sz="2800" dirty="0"/>
              <a:t>News, press releases</a:t>
            </a:r>
            <a:endParaRPr lang="fr-FR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857626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2168</TotalTime>
  <Words>1560</Words>
  <Application>Microsoft Office PowerPoint</Application>
  <PresentationFormat>Grand écran</PresentationFormat>
  <Paragraphs>194</Paragraphs>
  <Slides>26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Calibri Light</vt:lpstr>
      <vt:lpstr>Trebuchet MS</vt:lpstr>
      <vt:lpstr>Rétrospective</vt:lpstr>
      <vt:lpstr>R3.12 Employment</vt:lpstr>
      <vt:lpstr>Module assignment</vt:lpstr>
      <vt:lpstr>The Basics</vt:lpstr>
      <vt:lpstr>Part 1: writing a CV</vt:lpstr>
      <vt:lpstr>Goals of a resume</vt:lpstr>
      <vt:lpstr>Structure of a CV</vt:lpstr>
      <vt:lpstr>Tailor make the CV for the job</vt:lpstr>
      <vt:lpstr>Using a resume builder</vt:lpstr>
      <vt:lpstr>The Skills section</vt:lpstr>
      <vt:lpstr>Education </vt:lpstr>
      <vt:lpstr>Explaining your education (UK &amp; US)</vt:lpstr>
      <vt:lpstr>Explaining your education (UK &amp; US)</vt:lpstr>
      <vt:lpstr>Coursework</vt:lpstr>
      <vt:lpstr>Explaining your education</vt:lpstr>
      <vt:lpstr>Showcasing your projects &amp; experience</vt:lpstr>
      <vt:lpstr>Example </vt:lpstr>
      <vt:lpstr>Showcasing your experience</vt:lpstr>
      <vt:lpstr>Work experience</vt:lpstr>
      <vt:lpstr>Extra curricular activities</vt:lpstr>
      <vt:lpstr>Personal interests</vt:lpstr>
      <vt:lpstr>Writing a profile</vt:lpstr>
      <vt:lpstr>Examples of profiles</vt:lpstr>
      <vt:lpstr>Qualities</vt:lpstr>
      <vt:lpstr>Design, visuals</vt:lpstr>
      <vt:lpstr>Research the company</vt:lpstr>
      <vt:lpstr>Research the company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R5.14 Employment</dc:title>
  <dc:creator>Véronique CHARRIAU</dc:creator>
  <cp:lastModifiedBy>Véronique CHARRIAU</cp:lastModifiedBy>
  <cp:revision>130</cp:revision>
  <dcterms:created xsi:type="dcterms:W3CDTF">2023-08-24T13:49:54Z</dcterms:created>
  <dcterms:modified xsi:type="dcterms:W3CDTF">2026-08-16T12:56:19Z</dcterms:modified>
</cp:coreProperties>
</file>